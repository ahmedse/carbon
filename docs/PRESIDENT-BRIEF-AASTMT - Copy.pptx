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6350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B8F0"/>
                </a:solidFill>
                <a:latin typeface="Calibri"/>
              </a:rPr>
              <a:t>AASTMT · DATA TRUST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C7D6F5"/>
                </a:solidFill>
                <a:latin typeface="Calibri"/>
              </a:rPr>
              <a:t>Practical value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AASTMT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C7D6F5"/>
                </a:solidFill>
                <a:latin typeface="Calibri"/>
              </a:rPr>
              <a:t>Real problems solved,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617720"/>
            <a:ext cx="219456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6F5"/>
                </a:solidFill>
                <a:latin typeface="Calibri"/>
              </a:rPr>
              <a:t>Pulse coworker  ·  Data Trust office  ·  Carbon  ·  Performarc &amp;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EA6D8"/>
                </a:solidFill>
                <a:latin typeface="Calibri"/>
              </a:rPr>
              <a:t>A 10-minute brief for the President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463040"/>
            <a:ext cx="3108960" cy="114300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463040"/>
            <a:ext cx="6350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63040"/>
            <a:ext cx="2743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STAFF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DB8F0"/>
                </a:solidFill>
                <a:latin typeface="Calibri"/>
              </a:rPr>
              <a:t>value in the next slides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880360"/>
            <a:ext cx="3108960" cy="114300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2880360"/>
            <a:ext cx="6350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880360"/>
            <a:ext cx="2743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DB8F0"/>
                </a:solidFill>
                <a:latin typeface="Calibri"/>
              </a:rPr>
              <a:t>value in the next slides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297680"/>
            <a:ext cx="3108960" cy="114300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297680"/>
            <a:ext cx="6350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297680"/>
            <a:ext cx="2743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RESEARCH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DB8F0"/>
                </a:solidFill>
                <a:latin typeface="Calibri"/>
              </a:rPr>
              <a:t>value in the next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THE SITUATION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Four everyday problems that cost AASTMT real staff time and real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These are current costs — in hours, in lost students, and in reporting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615184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2615184" cy="8229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2494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747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Repeated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114800"/>
            <a:ext cx="22128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Staff answer the same questions and rebuild the same reports by hand, every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468880"/>
            <a:ext cx="2615184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2468880"/>
            <a:ext cx="2615184" cy="8229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80"/>
            <a:ext cx="22494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34747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Students get 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4114800"/>
            <a:ext cx="22128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Rules, deadlines and course choices confuse students — and some drop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68880"/>
            <a:ext cx="2615184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468880"/>
            <a:ext cx="2615184" cy="8229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2494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4747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Messy research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114800"/>
            <a:ext cx="22128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Data is scattered; months are lost cleaning it before any AI work begins.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468880"/>
            <a:ext cx="2615184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2468880"/>
            <a:ext cx="2615184" cy="82296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468880"/>
            <a:ext cx="22494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4747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Manual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4114800"/>
            <a:ext cx="22128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Rankings, accreditation and carbon numbers are pulled by hand — slow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PROOF IT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The hard parts are already built and running — this is about using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The question is not “can we build this?” — it is “where do we point it first?”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5303520" cy="1554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63500" cy="155448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The platform runs today for AASTMT, with the carbon app in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5303520" cy="1554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14600"/>
            <a:ext cx="63500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791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Governed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729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Every dataset has an owner, quality checks, and a full change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5303520" cy="1554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63500" cy="1554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Hosts our 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One shared base runs the carbon app and the AI assistant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97680"/>
            <a:ext cx="5303520" cy="1554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297680"/>
            <a:ext cx="63500" cy="1554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462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Tested 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9560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A large automated test suite protects the platform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PULSE · A COWORKER FOR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Pulse takes the repetitive desk work off staff so they spend time on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It suggests; people decide. It cannot change any record on its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60350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routine questions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our own rules and data — no more repeating replies.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Finds documents and numbers</a:t>
            </a:r>
            <a:r>
              <a:rPr sz="1550" b="0">
                <a:solidFill>
                  <a:srgbClr val="334155"/>
                </a:solidFill>
                <a:latin typeface="Calibri"/>
              </a:rPr>
              <a:t> in seconds, not hours.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Drafts reports and letters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real data; a person reviews and approves.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Safe by design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every action needs a human “yes”.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514600"/>
            <a:ext cx="4599432" cy="3520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A DAY A WEEK, GIVEN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154680"/>
            <a:ext cx="19659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8040" y="3154680"/>
            <a:ext cx="196596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3154680"/>
            <a:ext cx="1746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721608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Hours buried in emails, forms and repeated reports.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17152" y="3703320"/>
            <a:ext cx="457200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10928" y="3154680"/>
            <a:ext cx="16916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0928" y="3154680"/>
            <a:ext cx="1691640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3154680"/>
            <a:ext cx="1472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3721608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Review one clean draft. Time back for students.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70916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40AF"/>
                </a:solidFill>
                <a:latin typeface="Calibri"/>
              </a:rPr>
              <a:t>Value: </a:t>
            </a:r>
            <a:r>
              <a:rPr sz="1400" b="0">
                <a:solidFill>
                  <a:srgbClr val="334155"/>
                </a:solidFill>
                <a:latin typeface="Calibri"/>
              </a:rPr>
              <a:t>most repeated-question and report time returns as time for real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PULSE · A COACH FOR STUDENTS (ON THE WEBSITE)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 guided assistant that gives students the right answer at the right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The President can test this personally — it answers only from our real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9436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any time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admissions, courses, deadlines, rules —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Guides step by step</a:t>
            </a:r>
            <a:r>
              <a:rPr sz="1550" b="0">
                <a:solidFill>
                  <a:srgbClr val="334155"/>
                </a:solidFill>
                <a:latin typeface="Calibri"/>
              </a:rPr>
              <a:t> instead of leaving students lost in menus.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Hands off to the right office</a:t>
            </a:r>
            <a:r>
              <a:rPr sz="1550" b="0">
                <a:solidFill>
                  <a:srgbClr val="334155"/>
                </a:solidFill>
                <a:latin typeface="Calibri"/>
              </a:rPr>
              <a:t> or form when a person is needed.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Fewer dropped applications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, lighter load on advising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468880"/>
            <a:ext cx="3566160" cy="36118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71232" y="2788920"/>
            <a:ext cx="3236976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32520" y="2578608"/>
            <a:ext cx="914400" cy="109728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3017520"/>
            <a:ext cx="2194560" cy="685800"/>
          </a:xfrm>
          <a:prstGeom prst="round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017520"/>
            <a:ext cx="2011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40AF"/>
                </a:solidFill>
                <a:latin typeface="Calibri"/>
              </a:rPr>
              <a:t>Which courses do I need next term?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0" y="3840480"/>
            <a:ext cx="2377440" cy="105156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84048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B5C45"/>
                </a:solidFill>
                <a:latin typeface="Calibri"/>
              </a:rPr>
              <a:t>You need 3 core courses. Here they are — and the deadline is May 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5029200"/>
            <a:ext cx="292608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502920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→  Go to enrolment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DATA TRUST · THE BASE FOR DATA AND EVERY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One trusted base holds clean data and hosts the apps and AI that run on 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Owned, versioned and checked once — everything reuses it, so nothing is built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54203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2542032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Carbon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hosted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514600"/>
            <a:ext cx="254203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2514600"/>
            <a:ext cx="2542032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514600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Performarc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hosted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2514600"/>
            <a:ext cx="254203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2514600"/>
            <a:ext cx="2542032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2514600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Sustainability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hosted 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2514600"/>
            <a:ext cx="254203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14816" y="2514600"/>
            <a:ext cx="2542032" cy="635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2514600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Pulse AI engine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hosted 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5856" y="3566160"/>
            <a:ext cx="304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20768" y="3566160"/>
            <a:ext cx="304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5680" y="3566160"/>
            <a:ext cx="304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2" y="3566160"/>
            <a:ext cx="304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31920"/>
            <a:ext cx="10908792" cy="14173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931920"/>
            <a:ext cx="10908792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690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TRUST  —  clean, approved, versioned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6F5"/>
                </a:solidFill>
                <a:latin typeface="Calibri"/>
              </a:rPr>
              <a:t>Every dataset has an owner, quality checks and a version  ·  hosts the domain apps AND the AI apps/engines  ·  always able to show which data produced a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40AF"/>
                </a:solidFill>
                <a:latin typeface="Calibri"/>
              </a:rPr>
              <a:t>Value: </a:t>
            </a:r>
            <a:r>
              <a:rPr sz="1400" b="0">
                <a:solidFill>
                  <a:srgbClr val="334155"/>
                </a:solidFill>
                <a:latin typeface="Calibri"/>
              </a:rPr>
              <a:t>researchers start in days, not months — and every result is trustworthy and reusable.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CARBON · THE EMISSIONS APP ALREADY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Replaces manual, error-prone spreadsheets with numbers we can defend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Sustainability and carbon numbers now matter for rankings and accreditation.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9436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Tracks emissions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with a clear, recognised standard.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Evidence attached</a:t>
            </a:r>
            <a:r>
              <a:rPr sz="1550" b="0">
                <a:solidFill>
                  <a:srgbClr val="334155"/>
                </a:solidFill>
                <a:latin typeface="Calibri"/>
              </a:rPr>
              <a:t> to every number, with full history.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Reports for rankings &amp; accreditation</a:t>
            </a:r>
            <a:r>
              <a:rPr sz="1550" b="0">
                <a:solidFill>
                  <a:srgbClr val="334155"/>
                </a:solidFill>
                <a:latin typeface="Calibri"/>
              </a:rPr>
              <a:t> without manual rebuilding.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▪  </a:t>
            </a:r>
            <a:r>
              <a:rPr sz="1550" b="1">
                <a:solidFill>
                  <a:srgbClr val="334155"/>
                </a:solidFill>
                <a:latin typeface="Calibri"/>
              </a:rPr>
              <a:t>Lower risk</a:t>
            </a:r>
            <a:r>
              <a:rPr sz="1550" b="0">
                <a:solidFill>
                  <a:srgbClr val="334155"/>
                </a:solidFill>
                <a:latin typeface="Calibri"/>
              </a:rPr>
              <a:t> of a wrong figure in an official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651760"/>
            <a:ext cx="20574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2651760"/>
            <a:ext cx="205740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2651760"/>
            <a:ext cx="18379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SPREADSHEET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218688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Manual, scattered, an error waiting to happen.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62288" y="3291840"/>
            <a:ext cx="502920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10928" y="2651760"/>
            <a:ext cx="1810512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10928" y="2651760"/>
            <a:ext cx="1810512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656" y="2651760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CARBON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3218688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One clean, sourced, defensible number.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434840"/>
            <a:ext cx="4480560" cy="1554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57200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59E5B"/>
                </a:solidFill>
                <a:latin typeface="Calibri"/>
              </a:rPr>
              <a:t>Status: LIVE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This is the easiest value to see — it already runs and produces reports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PERFORMARC &amp; SUSTAINABILITY · THE NEXT TWO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Track academic performance and sustainability goals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Both reuse the platform we already run — so they cost far less to add.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539496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39496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Performarc — Academic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One place for KPIs, updated on time.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No chasing spreadsheets by email each term.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Consistent numbers for leadership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2926080" cy="384048"/>
          </a:xfrm>
          <a:prstGeom prst="round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40AF"/>
                </a:solidFill>
                <a:latin typeface="Calibri"/>
              </a:rPr>
              <a:t>Status: planned — same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14600"/>
            <a:ext cx="539496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514600"/>
            <a:ext cx="5394960" cy="64008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Sustainability —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375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59E5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Goals and progress tracked continuously.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59E5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A report is ready when you need 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59E5B"/>
                </a:solidFill>
                <a:latin typeface="Calibri"/>
              </a:rPr>
              <a:t>▪  </a:t>
            </a:r>
            <a:r>
              <a:rPr sz="1400" b="0">
                <a:solidFill>
                  <a:srgbClr val="334155"/>
                </a:solidFill>
                <a:latin typeface="Calibri"/>
              </a:rPr>
              <a:t>Fits rankings and external submissions.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257800"/>
            <a:ext cx="2926080" cy="384048"/>
          </a:xfrm>
          <a:prstGeom prst="round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2578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40AF"/>
                </a:solidFill>
                <a:latin typeface="Calibri"/>
              </a:rPr>
              <a:t>Status: planned — same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0879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HOW WE ROLL IT OUT · 12 MONTHS, LOW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19456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 simple, staged plan with a clear check before each next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56692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40AF"/>
                </a:solidFill>
                <a:latin typeface="Calibri"/>
              </a:rPr>
              <a:t>Bottom line:  </a:t>
            </a:r>
            <a:r>
              <a:rPr sz="1350" b="0">
                <a:solidFill>
                  <a:srgbClr val="334155"/>
                </a:solidFill>
                <a:latin typeface="Calibri"/>
              </a:rPr>
              <a:t>Each stage ends with a result you can see — we continue only if it delivered.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291840" cy="2560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291840" cy="5943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MONTHS 1–4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2834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Student coach on the website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Data Trust office started</a:t>
            </a:r>
          </a:p>
        </p:txBody>
      </p:sp>
      <p:sp>
        <p:nvSpPr>
          <p:cNvPr id="14" name="Diamond 13"/>
          <p:cNvSpPr/>
          <p:nvPr/>
        </p:nvSpPr>
        <p:spPr>
          <a:xfrm>
            <a:off x="3986784" y="3703320"/>
            <a:ext cx="384048" cy="384048"/>
          </a:xfrm>
          <a:prstGeom prst="diamond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4114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743200"/>
            <a:ext cx="3291840" cy="2560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743200"/>
            <a:ext cx="329184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MONTHS 5–8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566160"/>
            <a:ext cx="2834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Staff coworker in 1–2 departments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First research dataset reused</a:t>
            </a:r>
          </a:p>
        </p:txBody>
      </p:sp>
      <p:sp>
        <p:nvSpPr>
          <p:cNvPr id="20" name="Diamond 19"/>
          <p:cNvSpPr/>
          <p:nvPr/>
        </p:nvSpPr>
        <p:spPr>
          <a:xfrm>
            <a:off x="7781544" y="3703320"/>
            <a:ext cx="384048" cy="384048"/>
          </a:xfrm>
          <a:prstGeom prst="diamond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4114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743200"/>
            <a:ext cx="3291840" cy="2560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3291840" cy="5943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MONTHS 9–12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566160"/>
            <a:ext cx="2834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9770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Performarc &amp; Sustainability apps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97706"/>
                </a:solidFill>
                <a:latin typeface="Calibri"/>
              </a:rPr>
              <a:t>▪  </a:t>
            </a:r>
            <a:r>
              <a:rPr sz="1450" b="0">
                <a:solidFill>
                  <a:srgbClr val="334155"/>
                </a:solidFill>
                <a:latin typeface="Calibri"/>
              </a:rPr>
              <a:t>A second team reuses the data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40AF"/>
                </a:solidFill>
                <a:latin typeface="Calibri"/>
              </a:rPr>
              <a:t>No new hardware. </a:t>
            </a:r>
            <a:r>
              <a:rPr sz="1400" b="0">
                <a:solidFill>
                  <a:srgbClr val="334155"/>
                </a:solidFill>
                <a:latin typeface="Calibri"/>
              </a:rPr>
              <a:t>Every stage is independently useful and can be stopped or adjusted at the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6350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B8F0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C7D6F5"/>
                </a:solidFill>
                <a:latin typeface="Calibri"/>
              </a:rPr>
              <a:t>Approve 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7D6F5"/>
                </a:solidFill>
                <a:latin typeface="Calibri"/>
              </a:rPr>
              <a:t>We already own the platform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7D6F5"/>
                </a:solidFill>
                <a:latin typeface="Calibri"/>
              </a:rPr>
              <a:t>and the computing.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DB8F0"/>
                </a:solidFill>
                <a:latin typeface="Calibri"/>
              </a:rPr>
              <a:t>First working result within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DB8F0"/>
                </a:solidFill>
                <a:latin typeface="Calibri"/>
              </a:rPr>
              <a:t>the first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051560"/>
            <a:ext cx="6492240" cy="109728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4920" y="1051560"/>
            <a:ext cx="76200" cy="1097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05156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Start where it shows fast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Student coach + Data Trust office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331720"/>
            <a:ext cx="6492240" cy="109728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2331720"/>
            <a:ext cx="76200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33172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One or two departments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Partners for the staff coworker.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611879"/>
            <a:ext cx="6492240" cy="109728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3611879"/>
            <a:ext cx="76200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3611879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Use the computing we 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Access to existing systems for research.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4892040"/>
            <a:ext cx="6492240" cy="1097280"/>
          </a:xfrm>
          <a:prstGeom prst="roundRect">
            <a:avLst/>
          </a:prstGeom>
          <a:solidFill>
            <a:srgbClr val="18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4892040"/>
            <a:ext cx="76200" cy="109728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489204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 small dedicated team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No new hardware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