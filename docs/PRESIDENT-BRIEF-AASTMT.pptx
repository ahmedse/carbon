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84" y="5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72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754880" y="0"/>
            <a:ext cx="63500" cy="6858000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DB8F0"/>
                </a:solidFill>
                <a:latin typeface="Calibri"/>
              </a:rPr>
              <a:t>AASTMT · DATA TRUST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393192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6200" b="1" dirty="0">
                <a:solidFill>
                  <a:srgbClr val="FFFFFF"/>
                </a:solidFill>
                <a:latin typeface="Calibri"/>
              </a:rPr>
              <a:t>Pulse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dirty="0">
                <a:solidFill>
                  <a:srgbClr val="B9CBEE"/>
                </a:solidFill>
                <a:latin typeface="Calibri"/>
              </a:rPr>
              <a:t>a next-generation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dirty="0">
                <a:solidFill>
                  <a:srgbClr val="0E9488"/>
                </a:solidFill>
                <a:latin typeface="Calibri"/>
              </a:rPr>
              <a:t>coworker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4800600"/>
            <a:ext cx="2011680" cy="38100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39319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dirty="0">
                <a:solidFill>
                  <a:srgbClr val="B9CBEE"/>
                </a:solidFill>
                <a:latin typeface="Calibri"/>
              </a:rPr>
              <a:t>on the Data Trust platform —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dirty="0">
                <a:solidFill>
                  <a:srgbClr val="B9CBEE"/>
                </a:solidFill>
                <a:latin typeface="Calibri"/>
              </a:rPr>
              <a:t>the base that fixes data quality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dirty="0">
                <a:solidFill>
                  <a:srgbClr val="B9CBEE"/>
                </a:solidFill>
                <a:latin typeface="Calibri"/>
              </a:rPr>
              <a:t>and hosts every app.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67020" y="1435100"/>
            <a:ext cx="6263640" cy="1188720"/>
          </a:xfrm>
          <a:prstGeom prst="round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303520" y="1371600"/>
            <a:ext cx="6263640" cy="1188720"/>
          </a:xfrm>
          <a:prstGeom prst="roundRect">
            <a:avLst/>
          </a:prstGeom>
          <a:solidFill>
            <a:srgbClr val="16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303520" y="1371600"/>
            <a:ext cx="76200" cy="1188720"/>
          </a:xfrm>
          <a:prstGeom prst="round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77840" y="1371600"/>
            <a:ext cx="585216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PULSE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B9CBEE"/>
                </a:solidFill>
                <a:latin typeface="Calibri"/>
              </a:rPr>
              <a:t>A coworker for staff and students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67020" y="2852420"/>
            <a:ext cx="6263640" cy="1188720"/>
          </a:xfrm>
          <a:prstGeom prst="round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303520" y="2788920"/>
            <a:ext cx="6263640" cy="1188720"/>
          </a:xfrm>
          <a:prstGeom prst="roundRect">
            <a:avLst/>
          </a:prstGeom>
          <a:solidFill>
            <a:srgbClr val="16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303520" y="2788920"/>
            <a:ext cx="76200" cy="118872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77840" y="2788920"/>
            <a:ext cx="585216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DATA TRUST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B9CBEE"/>
                </a:solidFill>
                <a:latin typeface="Calibri"/>
              </a:rPr>
              <a:t>One base — clean data, all apps, AI engines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67020" y="4269740"/>
            <a:ext cx="6263640" cy="1188720"/>
          </a:xfrm>
          <a:prstGeom prst="round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303520" y="4206240"/>
            <a:ext cx="6263640" cy="1188720"/>
          </a:xfrm>
          <a:prstGeom prst="roundRect">
            <a:avLst/>
          </a:prstGeom>
          <a:solidFill>
            <a:srgbClr val="16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303520" y="4206240"/>
            <a:ext cx="76200" cy="118872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577840" y="4206240"/>
            <a:ext cx="585216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DOMAIN APPS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B9CBEE"/>
                </a:solidFill>
                <a:latin typeface="Calibri"/>
              </a:rPr>
              <a:t>Incl. AI apps &amp; engines · Carbon (live) · Performarc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9488"/>
                </a:solidFill>
                <a:latin typeface="Calibri"/>
              </a:rPr>
              <a:t>PULSE · THE COWORKER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384048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B7890"/>
                </a:solidFill>
                <a:latin typeface="Calibri"/>
              </a:rPr>
              <a:t>02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109728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B1220"/>
                </a:solidFill>
                <a:latin typeface="Calibri"/>
              </a:rPr>
              <a:t>A coworker that does the work, not a chatbot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17904"/>
            <a:ext cx="10881360" cy="54864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517904"/>
            <a:ext cx="50800" cy="548640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517904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9488"/>
                </a:solidFill>
                <a:latin typeface="Calibri"/>
              </a:rPr>
              <a:t>Bottom line:  </a:t>
            </a:r>
            <a:r>
              <a:rPr sz="1300" b="0">
                <a:solidFill>
                  <a:srgbClr val="334155"/>
                </a:solidFill>
                <a:latin typeface="Calibri"/>
              </a:rPr>
              <a:t>It runs whole business processes on our own data, recovers when a step fails, and gets better with use.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3580" y="2486660"/>
            <a:ext cx="2615184" cy="3383280"/>
          </a:xfrm>
          <a:prstGeom prst="round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" y="2423160"/>
            <a:ext cx="2615184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" y="2423160"/>
            <a:ext cx="2615184" cy="128016"/>
          </a:xfrm>
          <a:prstGeom prst="round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59536" y="2697480"/>
            <a:ext cx="640080" cy="640080"/>
          </a:xfrm>
          <a:prstGeom prst="ellipse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" y="269748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520440"/>
            <a:ext cx="215798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B1220"/>
                </a:solidFill>
                <a:latin typeface="Calibri"/>
              </a:rPr>
              <a:t>Knows our world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4069080"/>
            <a:ext cx="2157984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Works from AASTMT's own approved data and rules — not the open internet.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38220" y="2486660"/>
            <a:ext cx="2615184" cy="3383280"/>
          </a:xfrm>
          <a:prstGeom prst="round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474720" y="2423160"/>
            <a:ext cx="2615184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474720" y="2423160"/>
            <a:ext cx="2615184" cy="128016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694176" y="269748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94176" y="269748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12464" y="3520440"/>
            <a:ext cx="215798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B1220"/>
                </a:solidFill>
                <a:latin typeface="Calibri"/>
              </a:rPr>
              <a:t>Runs real workflows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12464" y="4069080"/>
            <a:ext cx="2157984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Executes multi-step tasks and specific business processes, end to end.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72860" y="2486660"/>
            <a:ext cx="2615184" cy="3383280"/>
          </a:xfrm>
          <a:prstGeom prst="round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309360" y="2423160"/>
            <a:ext cx="2615184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309360" y="2423160"/>
            <a:ext cx="2615184" cy="128016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528816" y="2697480"/>
            <a:ext cx="640080" cy="640080"/>
          </a:xfrm>
          <a:prstGeom prst="ellipse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28816" y="269748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3520440"/>
            <a:ext cx="215798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B1220"/>
                </a:solidFill>
                <a:latin typeface="Calibri"/>
              </a:rPr>
              <a:t>Learns and grows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4" y="4069080"/>
            <a:ext cx="2157984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Remembers context, learns our terms, and improves with every use.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07500" y="2486660"/>
            <a:ext cx="2615184" cy="3383280"/>
          </a:xfrm>
          <a:prstGeom prst="round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144000" y="2423160"/>
            <a:ext cx="2615184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144000" y="2423160"/>
            <a:ext cx="2615184" cy="128016"/>
          </a:xfrm>
          <a:prstGeom prst="roundRect">
            <a:avLst/>
          </a:prstGeom>
          <a:solidFill>
            <a:srgbClr val="15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363456" y="2697480"/>
            <a:ext cx="640080" cy="640080"/>
          </a:xfrm>
          <a:prstGeom prst="ellipse">
            <a:avLst/>
          </a:prstGeom>
          <a:solidFill>
            <a:srgbClr val="15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363456" y="269748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81744" y="3520440"/>
            <a:ext cx="215798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B1220"/>
                </a:solidFill>
                <a:latin typeface="Calibri"/>
              </a:rPr>
              <a:t>Resilient and safe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81744" y="4069080"/>
            <a:ext cx="2157984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Recovers when a step fails; suggests and lets a person approve.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1D0AF59-99C3-4251-AB9A-C966C6AD4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55405F-37A2-4869-9154-F8BE3BECE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33B45E-29AF-26A5-009C-1592F1613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534245"/>
            <a:ext cx="10905066" cy="3789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55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9488"/>
                </a:solidFill>
                <a:latin typeface="Calibri"/>
              </a:rPr>
              <a:t>PULSE · VALUE FOR STAFF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384048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B7890"/>
                </a:solidFill>
                <a:latin typeface="Calibri"/>
              </a:rPr>
              <a:t>03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109728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B1220"/>
                </a:solidFill>
                <a:latin typeface="Calibri"/>
              </a:rPr>
              <a:t>Give staff back a day a week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17904"/>
            <a:ext cx="10881360" cy="54864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517904"/>
            <a:ext cx="50800" cy="548640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517904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9488"/>
                </a:solidFill>
                <a:latin typeface="Calibri"/>
              </a:rPr>
              <a:t>Bottom line:  </a:t>
            </a:r>
            <a:r>
              <a:rPr sz="1300" b="0">
                <a:solidFill>
                  <a:srgbClr val="334155"/>
                </a:solidFill>
                <a:latin typeface="Calibri"/>
              </a:rPr>
              <a:t>The repetitive desk work is done for them — they spend time on people, not paperwork.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594360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150" b="1">
                <a:solidFill>
                  <a:srgbClr val="0E9488"/>
                </a:solidFill>
                <a:latin typeface="Calibri"/>
              </a:rPr>
              <a:t>●  </a:t>
            </a:r>
            <a:r>
              <a:rPr sz="1550" b="1">
                <a:solidFill>
                  <a:srgbClr val="334155"/>
                </a:solidFill>
                <a:latin typeface="Calibri"/>
              </a:rPr>
              <a:t>Answers routine questions</a:t>
            </a:r>
            <a:r>
              <a:rPr sz="1550" b="0">
                <a:solidFill>
                  <a:srgbClr val="334155"/>
                </a:solidFill>
                <a:latin typeface="Calibri"/>
              </a:rPr>
              <a:t> from our rules and data — no more repeating replies.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150" b="1">
                <a:solidFill>
                  <a:srgbClr val="0E9488"/>
                </a:solidFill>
                <a:latin typeface="Calibri"/>
              </a:rPr>
              <a:t>●  </a:t>
            </a:r>
            <a:r>
              <a:rPr sz="1550" b="1">
                <a:solidFill>
                  <a:srgbClr val="334155"/>
                </a:solidFill>
                <a:latin typeface="Calibri"/>
              </a:rPr>
              <a:t>Runs whole processes</a:t>
            </a:r>
            <a:r>
              <a:rPr sz="1550" b="0">
                <a:solidFill>
                  <a:srgbClr val="334155"/>
                </a:solidFill>
                <a:latin typeface="Calibri"/>
              </a:rPr>
              <a:t> — multi-step tasks done end to end, not just answers.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150" b="1">
                <a:solidFill>
                  <a:srgbClr val="0E9488"/>
                </a:solidFill>
                <a:latin typeface="Calibri"/>
              </a:rPr>
              <a:t>●  </a:t>
            </a:r>
            <a:r>
              <a:rPr sz="1550" b="1">
                <a:solidFill>
                  <a:srgbClr val="334155"/>
                </a:solidFill>
                <a:latin typeface="Calibri"/>
              </a:rPr>
              <a:t>Drafts reports and letters</a:t>
            </a:r>
            <a:r>
              <a:rPr sz="1550" b="0">
                <a:solidFill>
                  <a:srgbClr val="334155"/>
                </a:solidFill>
                <a:latin typeface="Calibri"/>
              </a:rPr>
              <a:t> from real data; a person reviews and approves.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150" b="1">
                <a:solidFill>
                  <a:srgbClr val="0E9488"/>
                </a:solidFill>
                <a:latin typeface="Calibri"/>
              </a:rPr>
              <a:t>●  </a:t>
            </a:r>
            <a:r>
              <a:rPr sz="1550" b="1">
                <a:solidFill>
                  <a:srgbClr val="334155"/>
                </a:solidFill>
                <a:latin typeface="Calibri"/>
              </a:rPr>
              <a:t>Resilient and safe</a:t>
            </a:r>
            <a:r>
              <a:rPr sz="1550" b="0">
                <a:solidFill>
                  <a:srgbClr val="334155"/>
                </a:solidFill>
                <a:latin typeface="Calibri"/>
              </a:rPr>
              <a:t> — recovers from failures; every action needs a human yes.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67220" y="2532380"/>
            <a:ext cx="4617720" cy="3383280"/>
          </a:xfrm>
          <a:prstGeom prst="round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903720" y="2468880"/>
            <a:ext cx="4617720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4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0" y="26517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B7890"/>
                </a:solidFill>
                <a:latin typeface="Calibri"/>
              </a:rPr>
              <a:t>THE SAME TASK, TWO WAYS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41540" y="3218180"/>
            <a:ext cx="1920240" cy="1417320"/>
          </a:xfrm>
          <a:prstGeom prst="round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178040" y="3154680"/>
            <a:ext cx="19202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178040" y="3154680"/>
            <a:ext cx="1920240" cy="457200"/>
          </a:xfrm>
          <a:prstGeom prst="round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178040" y="3383280"/>
            <a:ext cx="1920240" cy="256032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69480" y="315468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TODAY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06056" y="3721608"/>
            <a:ext cx="166420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4155"/>
                </a:solidFill>
                <a:latin typeface="Calibri"/>
              </a:rPr>
              <a:t>Hours in emails, forms, and repeated reports.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162288" y="3703320"/>
            <a:ext cx="457200" cy="274320"/>
          </a:xfrm>
          <a:prstGeom prst="rightArrow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756140" y="3218180"/>
            <a:ext cx="1691640" cy="1417320"/>
          </a:xfrm>
          <a:prstGeom prst="round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692640" y="3154680"/>
            <a:ext cx="16916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692640" y="3154680"/>
            <a:ext cx="1691640" cy="457200"/>
          </a:xfrm>
          <a:prstGeom prst="roundRect">
            <a:avLst/>
          </a:prstGeom>
          <a:solidFill>
            <a:srgbClr val="15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692640" y="3383280"/>
            <a:ext cx="1691640" cy="256032"/>
          </a:xfrm>
          <a:prstGeom prst="rect">
            <a:avLst/>
          </a:prstGeom>
          <a:solidFill>
            <a:srgbClr val="15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784080" y="3154680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WITH PULSE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0656" y="3721608"/>
            <a:ext cx="143560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4155"/>
                </a:solidFill>
                <a:latin typeface="Calibri"/>
              </a:rPr>
              <a:t>Review one clean draft. Done.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4800600"/>
            <a:ext cx="4206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9488"/>
                </a:solidFill>
                <a:latin typeface="Calibri"/>
              </a:rPr>
              <a:t>Value:  </a:t>
            </a:r>
            <a:r>
              <a:rPr sz="1400" b="0">
                <a:solidFill>
                  <a:srgbClr val="334155"/>
                </a:solidFill>
                <a:latin typeface="Calibri"/>
              </a:rPr>
              <a:t>most repeated-question and report time returns as time for real work.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9488"/>
                </a:solidFill>
                <a:latin typeface="Calibri"/>
              </a:rPr>
              <a:t>PULSE · A COACH FOR STUDENTS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384048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B7890"/>
                </a:solidFill>
                <a:latin typeface="Calibri"/>
              </a:rPr>
              <a:t>04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109728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B1220"/>
                </a:solidFill>
                <a:latin typeface="Calibri"/>
              </a:rPr>
              <a:t>The right answer, at the right moment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17904"/>
            <a:ext cx="10881360" cy="54864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517904"/>
            <a:ext cx="50800" cy="548640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517904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9488"/>
                </a:solidFill>
                <a:latin typeface="Calibri"/>
              </a:rPr>
              <a:t>Bottom line:  </a:t>
            </a:r>
            <a:r>
              <a:rPr sz="1300" b="0">
                <a:solidFill>
                  <a:srgbClr val="334155"/>
                </a:solidFill>
                <a:latin typeface="Calibri"/>
              </a:rPr>
              <a:t>A guided coach on our website — the President can test it personally.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603504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150" b="1">
                <a:solidFill>
                  <a:srgbClr val="0E9488"/>
                </a:solidFill>
                <a:latin typeface="Calibri"/>
              </a:rPr>
              <a:t>●  </a:t>
            </a:r>
            <a:r>
              <a:rPr sz="1550" b="1">
                <a:solidFill>
                  <a:srgbClr val="334155"/>
                </a:solidFill>
                <a:latin typeface="Calibri"/>
              </a:rPr>
              <a:t>Answers any time</a:t>
            </a:r>
            <a:r>
              <a:rPr sz="1550" b="0">
                <a:solidFill>
                  <a:srgbClr val="334155"/>
                </a:solidFill>
                <a:latin typeface="Calibri"/>
              </a:rPr>
              <a:t> — admissions, courses, deadlines, rules — in plain language.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150" b="1">
                <a:solidFill>
                  <a:srgbClr val="0E9488"/>
                </a:solidFill>
                <a:latin typeface="Calibri"/>
              </a:rPr>
              <a:t>●  </a:t>
            </a:r>
            <a:r>
              <a:rPr sz="1550" b="1">
                <a:solidFill>
                  <a:srgbClr val="334155"/>
                </a:solidFill>
                <a:latin typeface="Calibri"/>
              </a:rPr>
              <a:t>Guides step by step</a:t>
            </a:r>
            <a:r>
              <a:rPr sz="1550" b="0">
                <a:solidFill>
                  <a:srgbClr val="334155"/>
                </a:solidFill>
                <a:latin typeface="Calibri"/>
              </a:rPr>
              <a:t> instead of leaving students lost in menus.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150" b="1">
                <a:solidFill>
                  <a:srgbClr val="0E9488"/>
                </a:solidFill>
                <a:latin typeface="Calibri"/>
              </a:rPr>
              <a:t>●  </a:t>
            </a:r>
            <a:r>
              <a:rPr sz="1550" b="1">
                <a:solidFill>
                  <a:srgbClr val="334155"/>
                </a:solidFill>
                <a:latin typeface="Calibri"/>
              </a:rPr>
              <a:t>Hands off to the right office</a:t>
            </a:r>
            <a:r>
              <a:rPr sz="1550" b="0">
                <a:solidFill>
                  <a:srgbClr val="334155"/>
                </a:solidFill>
                <a:latin typeface="Calibri"/>
              </a:rPr>
              <a:t> when a person is needed.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150" b="1">
                <a:solidFill>
                  <a:srgbClr val="0E9488"/>
                </a:solidFill>
                <a:latin typeface="Calibri"/>
              </a:rPr>
              <a:t>●  </a:t>
            </a:r>
            <a:r>
              <a:rPr sz="1550" b="1">
                <a:solidFill>
                  <a:srgbClr val="334155"/>
                </a:solidFill>
                <a:latin typeface="Calibri"/>
              </a:rPr>
              <a:t>Fewer dropped applications</a:t>
            </a:r>
            <a:r>
              <a:rPr sz="1550" b="0">
                <a:solidFill>
                  <a:srgbClr val="334155"/>
                </a:solidFill>
                <a:latin typeface="Calibri"/>
              </a:rPr>
              <a:t>, lighter load on advising staff.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07300" y="2486660"/>
            <a:ext cx="3429000" cy="3520440"/>
          </a:xfrm>
          <a:prstGeom prst="round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543800" y="2423160"/>
            <a:ext cx="3429000" cy="352044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690104" y="2724912"/>
            <a:ext cx="3136392" cy="2926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869680" y="2551176"/>
            <a:ext cx="777240" cy="91440"/>
          </a:xfrm>
          <a:prstGeom prst="roundRect">
            <a:avLst/>
          </a:prstGeom>
          <a:solidFill>
            <a:srgbClr val="16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503920" y="2926080"/>
            <a:ext cx="2194560" cy="640080"/>
          </a:xfrm>
          <a:prstGeom prst="roundRect">
            <a:avLst/>
          </a:prstGeom>
          <a:solidFill>
            <a:srgbClr val="EC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95360" y="292608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72B63"/>
                </a:solidFill>
                <a:latin typeface="Calibri"/>
              </a:rPr>
              <a:t>Which courses do I need next term?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3703320"/>
            <a:ext cx="2331720" cy="960120"/>
          </a:xfrm>
          <a:prstGeom prst="round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09560" y="3703320"/>
            <a:ext cx="214884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B5C45"/>
                </a:solidFill>
                <a:latin typeface="Calibri"/>
              </a:rPr>
              <a:t>3 core courses. Deadline: May 2.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4846320"/>
            <a:ext cx="2880360" cy="548640"/>
          </a:xfrm>
          <a:prstGeom prst="round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18120" y="4846320"/>
            <a:ext cx="28803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→  Go to enrolment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9488"/>
                </a:solidFill>
                <a:latin typeface="Calibri"/>
              </a:rPr>
              <a:t>PULSE · WHY IT IS NEXT-GENERATION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384048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B7890"/>
                </a:solidFill>
                <a:latin typeface="Calibri"/>
              </a:rPr>
              <a:t>05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The class of system top organisations now expect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B9CBEE"/>
                </a:solidFill>
                <a:latin typeface="Calibri"/>
              </a:rPr>
              <a:t>Built here, on our own systems — not a subscription that reads our private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86000"/>
            <a:ext cx="3529584" cy="1600200"/>
          </a:xfrm>
          <a:prstGeom prst="roundRect">
            <a:avLst/>
          </a:prstGeom>
          <a:solidFill>
            <a:srgbClr val="16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080" y="2286000"/>
            <a:ext cx="76200" cy="1600200"/>
          </a:xfrm>
          <a:prstGeom prst="round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468880"/>
            <a:ext cx="307238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Calibri"/>
              </a:rPr>
              <a:t>Grounded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944368"/>
            <a:ext cx="30723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B9CBEE"/>
                </a:solidFill>
                <a:latin typeface="Calibri"/>
              </a:rPr>
              <a:t>Works only from our approved data — with the source shown.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2286000"/>
            <a:ext cx="3529584" cy="1600200"/>
          </a:xfrm>
          <a:prstGeom prst="roundRect">
            <a:avLst/>
          </a:prstGeom>
          <a:solidFill>
            <a:srgbClr val="16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398264" y="2286000"/>
            <a:ext cx="76200" cy="1600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54296" y="2468880"/>
            <a:ext cx="307238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Calibri"/>
              </a:rPr>
              <a:t>Runs workflows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4296" y="2944368"/>
            <a:ext cx="30723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B9CBEE"/>
                </a:solidFill>
                <a:latin typeface="Calibri"/>
              </a:rPr>
              <a:t>Executes multi-step business processes end to end — agentic.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6448" y="2286000"/>
            <a:ext cx="3529584" cy="1600200"/>
          </a:xfrm>
          <a:prstGeom prst="roundRect">
            <a:avLst/>
          </a:prstGeom>
          <a:solidFill>
            <a:srgbClr val="16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156448" y="2286000"/>
            <a:ext cx="76200" cy="1600200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0" y="2468880"/>
            <a:ext cx="307238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Calibri"/>
              </a:rPr>
              <a:t>Reasons &amp; self-checks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944368"/>
            <a:ext cx="30723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B9CBEE"/>
                </a:solidFill>
                <a:latin typeface="Calibri"/>
              </a:rPr>
              <a:t>Checks its own work before acting — fewer wrong answers.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160520"/>
            <a:ext cx="3529584" cy="1600200"/>
          </a:xfrm>
          <a:prstGeom prst="roundRect">
            <a:avLst/>
          </a:prstGeom>
          <a:solidFill>
            <a:srgbClr val="16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40080" y="4160520"/>
            <a:ext cx="76200" cy="1600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" y="4343400"/>
            <a:ext cx="307238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Calibri"/>
              </a:rPr>
              <a:t>Learns &amp; grows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4818888"/>
            <a:ext cx="30723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B9CBEE"/>
                </a:solidFill>
                <a:latin typeface="Calibri"/>
              </a:rPr>
              <a:t>Remembers, learns our terms, and improves with use.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98264" y="4160520"/>
            <a:ext cx="3529584" cy="1600200"/>
          </a:xfrm>
          <a:prstGeom prst="roundRect">
            <a:avLst/>
          </a:prstGeom>
          <a:solidFill>
            <a:srgbClr val="16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398264" y="4160520"/>
            <a:ext cx="76200" cy="1600200"/>
          </a:xfrm>
          <a:prstGeom prst="roundRect">
            <a:avLst/>
          </a:prstGeom>
          <a:solidFill>
            <a:srgbClr val="15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54296" y="4343400"/>
            <a:ext cx="307238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Calibri"/>
              </a:rPr>
              <a:t>Resilient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54296" y="4818888"/>
            <a:ext cx="30723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B9CBEE"/>
                </a:solidFill>
                <a:latin typeface="Calibri"/>
              </a:rPr>
              <a:t>Recovers from failures and keeps the task moving.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56448" y="4160520"/>
            <a:ext cx="3529584" cy="1600200"/>
          </a:xfrm>
          <a:prstGeom prst="roundRect">
            <a:avLst/>
          </a:prstGeom>
          <a:solidFill>
            <a:srgbClr val="16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156448" y="4160520"/>
            <a:ext cx="76200" cy="1600200"/>
          </a:xfrm>
          <a:prstGeom prst="roundRect">
            <a:avLst/>
          </a:prstGeom>
          <a:solidFill>
            <a:srgbClr val="0EA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80" y="4343400"/>
            <a:ext cx="307238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Calibri"/>
              </a:rPr>
              <a:t>Controlled &amp; ours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4818888"/>
            <a:ext cx="30723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B9CBEE"/>
                </a:solidFill>
                <a:latin typeface="Calibri"/>
              </a:rPr>
              <a:t>Human approval for sensitive actions; runs inside AASTMT.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563EB"/>
                </a:solidFill>
                <a:latin typeface="Calibri"/>
              </a:rPr>
              <a:t>DATA TRUST · THE DATA-QUALITY SOLVER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384048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B7890"/>
                </a:solidFill>
                <a:latin typeface="Calibri"/>
              </a:rPr>
              <a:t>06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109728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B1220"/>
                </a:solidFill>
                <a:latin typeface="Calibri"/>
              </a:rPr>
              <a:t>It fixes the data problems that break reports and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17904"/>
            <a:ext cx="10881360" cy="54864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517904"/>
            <a:ext cx="50800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517904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Bottom line:  </a:t>
            </a:r>
            <a:r>
              <a:rPr sz="1300" b="0">
                <a:solidFill>
                  <a:srgbClr val="334155"/>
                </a:solidFill>
                <a:latin typeface="Calibri"/>
              </a:rPr>
              <a:t>Bad data is the root cause of wrong reports and unreliable AI — Data Trust removes it at the source.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3580" y="2532380"/>
            <a:ext cx="3529584" cy="1463040"/>
          </a:xfrm>
          <a:prstGeom prst="round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" y="2468880"/>
            <a:ext cx="3529584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" y="2468880"/>
            <a:ext cx="3529584" cy="635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2615184"/>
            <a:ext cx="316382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42318"/>
                </a:solidFill>
                <a:latin typeface="Calibri"/>
              </a:rPr>
              <a:t>✕  Scattered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127248"/>
            <a:ext cx="3163824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59E5B"/>
                </a:solidFill>
                <a:latin typeface="Calibri"/>
              </a:rPr>
              <a:t>→  </a:t>
            </a:r>
            <a:r>
              <a:rPr sz="1250" b="0">
                <a:solidFill>
                  <a:srgbClr val="334155"/>
                </a:solidFill>
                <a:latin typeface="Calibri"/>
              </a:rPr>
              <a:t>One governed place — every dataset has an owner and a version.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61764" y="2532380"/>
            <a:ext cx="3529584" cy="1463040"/>
          </a:xfrm>
          <a:prstGeom prst="round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398264" y="2468880"/>
            <a:ext cx="3529584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398264" y="2468880"/>
            <a:ext cx="3529584" cy="635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99432" y="2615184"/>
            <a:ext cx="316382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42318"/>
                </a:solidFill>
                <a:latin typeface="Calibri"/>
              </a:rPr>
              <a:t>✕  No one trusts the numbers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3127248"/>
            <a:ext cx="3163824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59E5B"/>
                </a:solidFill>
                <a:latin typeface="Calibri"/>
              </a:rPr>
              <a:t>→  </a:t>
            </a:r>
            <a:r>
              <a:rPr sz="1250" b="0">
                <a:solidFill>
                  <a:srgbClr val="334155"/>
                </a:solidFill>
                <a:latin typeface="Calibri"/>
              </a:rPr>
              <a:t>Automatic quality checks; a clear pass/fail on each dataset.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19948" y="2532380"/>
            <a:ext cx="3529584" cy="1463040"/>
          </a:xfrm>
          <a:prstGeom prst="round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156448" y="2468880"/>
            <a:ext cx="3529584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156448" y="2468880"/>
            <a:ext cx="3529584" cy="635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57616" y="2615184"/>
            <a:ext cx="316382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42318"/>
                </a:solidFill>
                <a:latin typeface="Calibri"/>
              </a:rPr>
              <a:t>✕  “Where did this come from?”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7616" y="3127248"/>
            <a:ext cx="3163824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59E5B"/>
                </a:solidFill>
                <a:latin typeface="Calibri"/>
              </a:rPr>
              <a:t>→  </a:t>
            </a:r>
            <a:r>
              <a:rPr sz="1250" b="0">
                <a:solidFill>
                  <a:srgbClr val="334155"/>
                </a:solidFill>
                <a:latin typeface="Calibri"/>
              </a:rPr>
              <a:t>Full history — always able to show which data produced a result.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3580" y="4224020"/>
            <a:ext cx="3529584" cy="1463040"/>
          </a:xfrm>
          <a:prstGeom prst="round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4160520"/>
            <a:ext cx="3529584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40080" y="4160520"/>
            <a:ext cx="3529584" cy="635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1248" y="4306824"/>
            <a:ext cx="316382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42318"/>
                </a:solidFill>
                <a:latin typeface="Calibri"/>
              </a:rPr>
              <a:t>✕  Duplicate, inconsistent codes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4818888"/>
            <a:ext cx="3163824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59E5B"/>
                </a:solidFill>
                <a:latin typeface="Calibri"/>
              </a:rPr>
              <a:t>→  </a:t>
            </a:r>
            <a:r>
              <a:rPr sz="1250" b="0">
                <a:solidFill>
                  <a:srgbClr val="334155"/>
                </a:solidFill>
                <a:latin typeface="Calibri"/>
              </a:rPr>
              <a:t>Shared reference lists keep everyone on the same values.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61764" y="4224020"/>
            <a:ext cx="3529584" cy="1463040"/>
          </a:xfrm>
          <a:prstGeom prst="round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4398264" y="4160520"/>
            <a:ext cx="3529584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398264" y="4160520"/>
            <a:ext cx="3529584" cy="635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99432" y="4306824"/>
            <a:ext cx="316382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42318"/>
                </a:solidFill>
                <a:latin typeface="Calibri"/>
              </a:rPr>
              <a:t>✕  Months lost cleaning 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99432" y="4818888"/>
            <a:ext cx="3163824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59E5B"/>
                </a:solidFill>
                <a:latin typeface="Calibri"/>
              </a:rPr>
              <a:t>→  </a:t>
            </a:r>
            <a:r>
              <a:rPr sz="1250" b="0">
                <a:solidFill>
                  <a:srgbClr val="334155"/>
                </a:solidFill>
                <a:latin typeface="Calibri"/>
              </a:rPr>
              <a:t>Approved datasets are reused, not rebuilt each time.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19948" y="4224020"/>
            <a:ext cx="3529584" cy="1463040"/>
          </a:xfrm>
          <a:prstGeom prst="round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156448" y="4160520"/>
            <a:ext cx="3529584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156448" y="4160520"/>
            <a:ext cx="3529584" cy="635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57616" y="4306824"/>
            <a:ext cx="316382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42318"/>
                </a:solidFill>
                <a:latin typeface="Calibri"/>
              </a:rPr>
              <a:t>✕  Stale data slips through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57616" y="4818888"/>
            <a:ext cx="3163824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59E5B"/>
                </a:solidFill>
                <a:latin typeface="Calibri"/>
              </a:rPr>
              <a:t>→  </a:t>
            </a:r>
            <a:r>
              <a:rPr sz="1250" b="0">
                <a:solidFill>
                  <a:srgbClr val="334155"/>
                </a:solidFill>
                <a:latin typeface="Calibri"/>
              </a:rPr>
              <a:t>Freshness rules flag data that is too old to use.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563EB"/>
                </a:solidFill>
                <a:latin typeface="Calibri"/>
              </a:rPr>
              <a:t>DATA TRUST · ONE BASE FOR EVERY APP AND AI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384048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B7890"/>
                </a:solidFill>
                <a:latin typeface="Calibri"/>
              </a:rPr>
              <a:t>07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109728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B1220"/>
                </a:solidFill>
                <a:latin typeface="Calibri"/>
              </a:rPr>
              <a:t>Domain apps — including the AI apps and engines — all run on one trusted base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17904"/>
            <a:ext cx="10881360" cy="54864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517904"/>
            <a:ext cx="50800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517904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Bottom line:  </a:t>
            </a:r>
            <a:r>
              <a:rPr sz="1300" b="0">
                <a:solidFill>
                  <a:srgbClr val="334155"/>
                </a:solidFill>
                <a:latin typeface="Calibri"/>
              </a:rPr>
              <a:t>Clean data is owned and checked once — every app and every AI reuses it, so nothing is built twice.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3580" y="2486660"/>
            <a:ext cx="2542032" cy="1143000"/>
          </a:xfrm>
          <a:prstGeom prst="round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" y="2423160"/>
            <a:ext cx="25420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" y="2423160"/>
            <a:ext cx="2542032" cy="76200"/>
          </a:xfrm>
          <a:prstGeom prst="round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487168"/>
            <a:ext cx="2542032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0B1220"/>
                </a:solidFill>
                <a:latin typeface="Calibri"/>
              </a:rPr>
              <a:t>Carbon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B7890"/>
                </a:solidFill>
                <a:latin typeface="Calibri"/>
              </a:rPr>
              <a:t>live app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92046" y="3566160"/>
            <a:ext cx="38100" cy="365760"/>
          </a:xfrm>
          <a:prstGeom prst="rect">
            <a:avLst/>
          </a:prstGeom>
          <a:solidFill>
            <a:srgbClr val="E4E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428492" y="2486660"/>
            <a:ext cx="2542032" cy="1143000"/>
          </a:xfrm>
          <a:prstGeom prst="round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364992" y="2423160"/>
            <a:ext cx="25420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364992" y="2423160"/>
            <a:ext cx="2542032" cy="76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64992" y="2487168"/>
            <a:ext cx="2542032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0B1220"/>
                </a:solidFill>
                <a:latin typeface="Calibri"/>
              </a:rPr>
              <a:t>Performarc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B7890"/>
                </a:solidFill>
                <a:latin typeface="Calibri"/>
              </a:rPr>
              <a:t>planned app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6958" y="3566160"/>
            <a:ext cx="38100" cy="365760"/>
          </a:xfrm>
          <a:prstGeom prst="rect">
            <a:avLst/>
          </a:prstGeom>
          <a:solidFill>
            <a:srgbClr val="E4E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153404" y="2486660"/>
            <a:ext cx="2542032" cy="1143000"/>
          </a:xfrm>
          <a:prstGeom prst="round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089904" y="2423160"/>
            <a:ext cx="25420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089904" y="2423160"/>
            <a:ext cx="2542032" cy="76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89904" y="2487168"/>
            <a:ext cx="2542032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0B1220"/>
                </a:solidFill>
                <a:latin typeface="Calibri"/>
              </a:rPr>
              <a:t>Sustainability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B7890"/>
                </a:solidFill>
                <a:latin typeface="Calibri"/>
              </a:rPr>
              <a:t>planned app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1870" y="3566160"/>
            <a:ext cx="38100" cy="365760"/>
          </a:xfrm>
          <a:prstGeom prst="rect">
            <a:avLst/>
          </a:prstGeom>
          <a:solidFill>
            <a:srgbClr val="E4E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878316" y="2486660"/>
            <a:ext cx="2542032" cy="1143000"/>
          </a:xfrm>
          <a:prstGeom prst="round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814816" y="2423160"/>
            <a:ext cx="25420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814816" y="2423160"/>
            <a:ext cx="2542032" cy="76200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814816" y="2487168"/>
            <a:ext cx="2542032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0B1220"/>
                </a:solidFill>
                <a:latin typeface="Calibri"/>
              </a:rPr>
              <a:t>Pulse AI engine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B7890"/>
                </a:solidFill>
                <a:latin typeface="Calibri"/>
              </a:rPr>
              <a:t>live · AI engine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66782" y="3566160"/>
            <a:ext cx="38100" cy="365760"/>
          </a:xfrm>
          <a:prstGeom prst="rect">
            <a:avLst/>
          </a:prstGeom>
          <a:solidFill>
            <a:srgbClr val="E4E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03580" y="4041139"/>
            <a:ext cx="10881360" cy="1554480"/>
          </a:xfrm>
          <a:prstGeom prst="round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40080" y="3977639"/>
            <a:ext cx="10881360" cy="1554480"/>
          </a:xfrm>
          <a:prstGeom prst="roundRect">
            <a:avLst/>
          </a:prstGeom>
          <a:solidFill>
            <a:srgbClr val="172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40080" y="3977639"/>
            <a:ext cx="10881360" cy="76200"/>
          </a:xfrm>
          <a:prstGeom prst="round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DATA TRUST  —  clean · approved · versioned 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663440"/>
            <a:ext cx="103327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B9CBEE"/>
                </a:solidFill>
                <a:latin typeface="Calibri"/>
              </a:rPr>
              <a:t>Owner + quality checks + version on every dataset   ·   domain apps INCLUDE the AI apps and engines   ·   one source of truth for reports and AI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715000"/>
            <a:ext cx="10881360" cy="566928"/>
          </a:xfrm>
          <a:prstGeom prst="roundRect">
            <a:avLst/>
          </a:prstGeom>
          <a:solidFill>
            <a:srgbClr val="EC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0080" y="5715000"/>
            <a:ext cx="50800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68680" y="5715000"/>
            <a:ext cx="105156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72B63"/>
                </a:solidFill>
                <a:latin typeface="Calibri"/>
              </a:rPr>
              <a:t>Value:  </a:t>
            </a:r>
            <a:r>
              <a:rPr sz="1350" b="0">
                <a:solidFill>
                  <a:srgbClr val="334155"/>
                </a:solidFill>
                <a:latin typeface="Calibri"/>
              </a:rPr>
              <a:t>add a new app cheaply, and trust every result — because the data underneath is already clean.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D97706"/>
                </a:solidFill>
                <a:latin typeface="Calibri"/>
              </a:rPr>
              <a:t>CARBON · PROOF, ALREADY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384048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B7890"/>
                </a:solidFill>
                <a:latin typeface="Calibri"/>
              </a:rPr>
              <a:t>08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109728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B1220"/>
                </a:solidFill>
                <a:latin typeface="Calibri"/>
              </a:rPr>
              <a:t>Defensible emissions numbers for rankings and accreditation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17904"/>
            <a:ext cx="10881360" cy="54864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517904"/>
            <a:ext cx="50800" cy="548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517904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97706"/>
                </a:solidFill>
                <a:latin typeface="Calibri"/>
              </a:rPr>
              <a:t>Bottom line:  </a:t>
            </a:r>
            <a:r>
              <a:rPr sz="1300" b="0">
                <a:solidFill>
                  <a:srgbClr val="334155"/>
                </a:solidFill>
                <a:latin typeface="Calibri"/>
              </a:rPr>
              <a:t>The easiest value to see — it runs today and produces reports without manual rebuilding.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585216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150" b="1">
                <a:solidFill>
                  <a:srgbClr val="D97706"/>
                </a:solidFill>
                <a:latin typeface="Calibri"/>
              </a:rPr>
              <a:t>●  </a:t>
            </a:r>
            <a:r>
              <a:rPr sz="1550" b="1">
                <a:solidFill>
                  <a:srgbClr val="334155"/>
                </a:solidFill>
                <a:latin typeface="Calibri"/>
              </a:rPr>
              <a:t>Tracks emissions</a:t>
            </a:r>
            <a:r>
              <a:rPr sz="1550" b="0">
                <a:solidFill>
                  <a:srgbClr val="334155"/>
                </a:solidFill>
                <a:latin typeface="Calibri"/>
              </a:rPr>
              <a:t> with a clear, recognised standard.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150" b="1">
                <a:solidFill>
                  <a:srgbClr val="D97706"/>
                </a:solidFill>
                <a:latin typeface="Calibri"/>
              </a:rPr>
              <a:t>●  </a:t>
            </a:r>
            <a:r>
              <a:rPr sz="1550" b="1">
                <a:solidFill>
                  <a:srgbClr val="334155"/>
                </a:solidFill>
                <a:latin typeface="Calibri"/>
              </a:rPr>
              <a:t>Evidence attached</a:t>
            </a:r>
            <a:r>
              <a:rPr sz="1550" b="0">
                <a:solidFill>
                  <a:srgbClr val="334155"/>
                </a:solidFill>
                <a:latin typeface="Calibri"/>
              </a:rPr>
              <a:t> to every number, with full history.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150" b="1">
                <a:solidFill>
                  <a:srgbClr val="D97706"/>
                </a:solidFill>
                <a:latin typeface="Calibri"/>
              </a:rPr>
              <a:t>●  </a:t>
            </a:r>
            <a:r>
              <a:rPr sz="1550" b="1">
                <a:solidFill>
                  <a:srgbClr val="334155"/>
                </a:solidFill>
                <a:latin typeface="Calibri"/>
              </a:rPr>
              <a:t>Reports for rankings &amp; accreditation</a:t>
            </a:r>
            <a:r>
              <a:rPr sz="1550" b="0">
                <a:solidFill>
                  <a:srgbClr val="334155"/>
                </a:solidFill>
                <a:latin typeface="Calibri"/>
              </a:rPr>
              <a:t> — no manual rebuild.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150" b="1">
                <a:solidFill>
                  <a:srgbClr val="D97706"/>
                </a:solidFill>
                <a:latin typeface="Calibri"/>
              </a:rPr>
              <a:t>●  </a:t>
            </a:r>
            <a:r>
              <a:rPr sz="1550" b="1">
                <a:solidFill>
                  <a:srgbClr val="334155"/>
                </a:solidFill>
                <a:latin typeface="Calibri"/>
              </a:rPr>
              <a:t>Lower risk</a:t>
            </a:r>
            <a:r>
              <a:rPr sz="1550" b="0">
                <a:solidFill>
                  <a:srgbClr val="334155"/>
                </a:solidFill>
                <a:latin typeface="Calibri"/>
              </a:rPr>
              <a:t> of a wrong figure in an official submission.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21500" y="2669540"/>
            <a:ext cx="2057400" cy="1554480"/>
          </a:xfrm>
          <a:prstGeom prst="round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0" y="2606040"/>
            <a:ext cx="20574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858000" y="2606040"/>
            <a:ext cx="2057400" cy="457200"/>
          </a:xfrm>
          <a:prstGeom prst="round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0" y="2834640"/>
            <a:ext cx="2057400" cy="256032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49440" y="2606040"/>
            <a:ext cx="18745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SPREADSHEET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3172968"/>
            <a:ext cx="180136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4155"/>
                </a:solidFill>
                <a:latin typeface="Calibri"/>
              </a:rPr>
              <a:t>Manual, scattered, an error waiting to happen.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979408" y="3246120"/>
            <a:ext cx="502920" cy="274320"/>
          </a:xfrm>
          <a:prstGeom prst="rightArrow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591548" y="2669540"/>
            <a:ext cx="1993392" cy="1554480"/>
          </a:xfrm>
          <a:prstGeom prst="round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528048" y="2606040"/>
            <a:ext cx="1993392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528048" y="2606040"/>
            <a:ext cx="1993392" cy="457200"/>
          </a:xfrm>
          <a:prstGeom prst="roundRect">
            <a:avLst/>
          </a:prstGeom>
          <a:solidFill>
            <a:srgbClr val="15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528048" y="2834640"/>
            <a:ext cx="1993392" cy="256032"/>
          </a:xfrm>
          <a:prstGeom prst="rect">
            <a:avLst/>
          </a:prstGeom>
          <a:solidFill>
            <a:srgbClr val="15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19488" y="2606040"/>
            <a:ext cx="181051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CARBON 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6064" y="3172968"/>
            <a:ext cx="1737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4155"/>
                </a:solidFill>
                <a:latin typeface="Calibri"/>
              </a:rPr>
              <a:t>One clean, sourced, defensible number.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21500" y="4452620"/>
            <a:ext cx="4663440" cy="1417320"/>
          </a:xfrm>
          <a:prstGeom prst="round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858000" y="4389120"/>
            <a:ext cx="4663440" cy="1417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4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86600" y="4553712"/>
            <a:ext cx="42062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59E5B"/>
                </a:solidFill>
                <a:latin typeface="Calibri"/>
              </a:rPr>
              <a:t>● LIVE TODAY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Running for AASTMT now — the working proof that the base and the apps deliver.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72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0" y="0"/>
            <a:ext cx="63500" cy="6858000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DB8F0"/>
                </a:solidFill>
                <a:latin typeface="Calibri"/>
              </a:rPr>
              <a:t>THE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749039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0">
                <a:solidFill>
                  <a:srgbClr val="B9CBEE"/>
                </a:solidFill>
                <a:latin typeface="Calibri"/>
              </a:rPr>
              <a:t>Approve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to start.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31920"/>
            <a:ext cx="3749039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B9CBEE"/>
                </a:solidFill>
                <a:latin typeface="Calibri"/>
              </a:rPr>
              <a:t>We already own the platform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B9CBEE"/>
                </a:solidFill>
                <a:latin typeface="Calibri"/>
              </a:rPr>
              <a:t>and the computing.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 sz="1500" b="1">
              <a:solidFill>
                <a:srgbClr val="B9CBEE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9DB8F0"/>
                </a:solidFill>
                <a:latin typeface="Calibri"/>
              </a:rPr>
              <a:t>First working result within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9DB8F0"/>
                </a:solidFill>
                <a:latin typeface="Calibri"/>
              </a:rPr>
              <a:t>the first stage.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38420" y="1115060"/>
            <a:ext cx="6492240" cy="1097280"/>
          </a:xfrm>
          <a:prstGeom prst="round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74920" y="1051560"/>
            <a:ext cx="6492240" cy="1097280"/>
          </a:xfrm>
          <a:prstGeom prst="roundRect">
            <a:avLst/>
          </a:prstGeom>
          <a:solidFill>
            <a:srgbClr val="16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074920" y="1051560"/>
            <a:ext cx="76200" cy="1097280"/>
          </a:xfrm>
          <a:prstGeom prst="round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94960" y="1051560"/>
            <a:ext cx="603504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Start where it shows fast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B9CBEE"/>
                </a:solidFill>
                <a:latin typeface="Calibri"/>
              </a:rPr>
              <a:t>Student coach + Data Trust office first.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38420" y="2395220"/>
            <a:ext cx="6492240" cy="1097280"/>
          </a:xfrm>
          <a:prstGeom prst="round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074920" y="2331720"/>
            <a:ext cx="6492240" cy="1097280"/>
          </a:xfrm>
          <a:prstGeom prst="roundRect">
            <a:avLst/>
          </a:prstGeom>
          <a:solidFill>
            <a:srgbClr val="16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074920" y="2331720"/>
            <a:ext cx="76200" cy="109728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94960" y="2331720"/>
            <a:ext cx="603504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One or two departments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B9CBEE"/>
                </a:solidFill>
                <a:latin typeface="Calibri"/>
              </a:rPr>
              <a:t>Partners for the staff coworker.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38420" y="3675379"/>
            <a:ext cx="6492240" cy="1097280"/>
          </a:xfrm>
          <a:prstGeom prst="round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074920" y="3611879"/>
            <a:ext cx="6492240" cy="1097280"/>
          </a:xfrm>
          <a:prstGeom prst="roundRect">
            <a:avLst/>
          </a:prstGeom>
          <a:solidFill>
            <a:srgbClr val="16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074920" y="3611879"/>
            <a:ext cx="76200" cy="109728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94960" y="3611879"/>
            <a:ext cx="603504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Use the computing we own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B9CBEE"/>
                </a:solidFill>
                <a:latin typeface="Calibri"/>
              </a:rPr>
              <a:t>Access to existing systems for research.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38420" y="4955540"/>
            <a:ext cx="6492240" cy="1097280"/>
          </a:xfrm>
          <a:prstGeom prst="round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074920" y="4892040"/>
            <a:ext cx="6492240" cy="1097280"/>
          </a:xfrm>
          <a:prstGeom prst="roundRect">
            <a:avLst/>
          </a:prstGeom>
          <a:solidFill>
            <a:srgbClr val="16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074920" y="4892040"/>
            <a:ext cx="76200" cy="1097280"/>
          </a:xfrm>
          <a:prstGeom prst="roundRect">
            <a:avLst/>
          </a:prstGeom>
          <a:solidFill>
            <a:srgbClr val="15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94960" y="4892040"/>
            <a:ext cx="603504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A small dedicated team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B9CBEE"/>
                </a:solidFill>
                <a:latin typeface="Calibri"/>
              </a:rPr>
              <a:t>No new hardware spend.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993</Words>
  <Application>Microsoft Office PowerPoint</Application>
  <PresentationFormat>Widescreen</PresentationFormat>
  <Paragraphs>131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Dr. Ahmed S. Berawi</cp:lastModifiedBy>
  <cp:revision>4</cp:revision>
  <dcterms:created xsi:type="dcterms:W3CDTF">2013-01-27T09:14:16Z</dcterms:created>
  <dcterms:modified xsi:type="dcterms:W3CDTF">2026-09-14T08:20:06Z</dcterms:modified>
  <cp:category/>
</cp:coreProperties>
</file>