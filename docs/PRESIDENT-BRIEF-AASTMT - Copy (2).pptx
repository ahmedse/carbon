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63500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DB8F0"/>
                </a:solidFill>
                <a:latin typeface="Calibri"/>
              </a:rPr>
              <a:t>AASTMT · DATA TRUST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931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>
                <a:solidFill>
                  <a:srgbClr val="FFFFFF"/>
                </a:solidFill>
                <a:latin typeface="Calibri"/>
              </a:rPr>
              <a:t>Pulse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B9CBEE"/>
                </a:solidFill>
                <a:latin typeface="Calibri"/>
              </a:rPr>
              <a:t>a next-generation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0E9488"/>
                </a:solidFill>
                <a:latin typeface="Calibri"/>
              </a:rPr>
              <a:t>coworker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2011680" cy="381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9CBEE"/>
                </a:solidFill>
                <a:latin typeface="Calibri"/>
              </a:rPr>
              <a:t>on the Data Trust platform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9CBEE"/>
                </a:solidFill>
                <a:latin typeface="Calibri"/>
              </a:rPr>
              <a:t>the base that fixes data quality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B9CBEE"/>
                </a:solidFill>
                <a:latin typeface="Calibri"/>
              </a:rPr>
              <a:t>and hosts every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020" y="143510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76200" cy="118872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371600"/>
            <a:ext cx="5852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PULSE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A coworker for staff and students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020" y="285242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78892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0" y="2788920"/>
            <a:ext cx="76200" cy="11887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788920"/>
            <a:ext cx="5852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One base — clean data, all apps, AI engines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020" y="4269740"/>
            <a:ext cx="6263640" cy="11887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4206240"/>
            <a:ext cx="6263640" cy="118872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03520" y="4206240"/>
            <a:ext cx="76200" cy="11887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206240"/>
            <a:ext cx="5852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DOMAIN APPS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Carbon (live) · Performarc · 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61264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890"/>
                </a:solidFill>
                <a:latin typeface="Calibri"/>
              </a:rPr>
              <a:t>A 10-minute brief for the President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THE COWORKER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A coworker, not a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It works from our own data and rules, remembers context, and never acts without a human yes.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615184" cy="128016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" y="2697480"/>
            <a:ext cx="640080" cy="640080"/>
          </a:xfrm>
          <a:prstGeom prst="ellipse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6974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20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Knows our world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69080"/>
            <a:ext cx="21579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Answers from AASTMT's own approved data and rules — not the open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22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472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423160"/>
            <a:ext cx="2615184" cy="12801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94176" y="26974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6974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520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Remembers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4" y="4069080"/>
            <a:ext cx="21579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Keeps context across a task, so people don't repeat themselves.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286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2423160"/>
            <a:ext cx="2615184" cy="128016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28816" y="2697480"/>
            <a:ext cx="640080" cy="640080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26974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520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Does real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4069080"/>
            <a:ext cx="21579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Finds documents, pulls numbers, drafts reports and letters.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07500" y="2486660"/>
            <a:ext cx="2615184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2423160"/>
            <a:ext cx="2615184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2423160"/>
            <a:ext cx="2615184" cy="128016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63456" y="2697480"/>
            <a:ext cx="640080" cy="640080"/>
          </a:xfrm>
          <a:prstGeom prst="ellipse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3456" y="26974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352044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B1220"/>
                </a:solidFill>
                <a:latin typeface="Calibri"/>
              </a:rPr>
              <a:t>Safe by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069080"/>
            <a:ext cx="21579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It suggests; a person approves. It cannot change a record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VALUE FOR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Give staff back a day a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The repetitive desk work is done for them — they spend time on people, not paperwork.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9436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routine questions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our rules and data — no more repeating replies.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Finds documents and numbers</a:t>
            </a:r>
            <a:r>
              <a:rPr sz="1550" b="0">
                <a:solidFill>
                  <a:srgbClr val="334155"/>
                </a:solidFill>
                <a:latin typeface="Calibri"/>
              </a:rPr>
              <a:t> in seconds, not hours.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Drafts reports and letters</a:t>
            </a:r>
            <a:r>
              <a:rPr sz="1550" b="0">
                <a:solidFill>
                  <a:srgbClr val="334155"/>
                </a:solidFill>
                <a:latin typeface="Calibri"/>
              </a:rPr>
              <a:t> from real data; a person reviews and approves.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Nothing changes on its own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every action needs a human yes.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220" y="2532380"/>
            <a:ext cx="4617720" cy="3383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03720" y="2468880"/>
            <a:ext cx="4617720" cy="33832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651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890"/>
                </a:solidFill>
                <a:latin typeface="Calibri"/>
              </a:rPr>
              <a:t>THE SAME TASK, TWO WAYS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1540" y="3218180"/>
            <a:ext cx="19202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78040" y="315468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3154680"/>
            <a:ext cx="192024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3383280"/>
            <a:ext cx="1920240" cy="25603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15468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3721608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Hours in emails, forms, and repeated reports.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62288" y="3703320"/>
            <a:ext cx="457200" cy="274320"/>
          </a:xfrm>
          <a:prstGeom prst="rightArrow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6140" y="3218180"/>
            <a:ext cx="16916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3154680"/>
            <a:ext cx="1691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3154680"/>
            <a:ext cx="1691640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3383280"/>
            <a:ext cx="1691640" cy="25603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3154680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WITH 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3721608"/>
            <a:ext cx="14356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Review one clean draft. Done.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80060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9488"/>
                </a:solidFill>
                <a:latin typeface="Calibri"/>
              </a:rPr>
              <a:t>Value:  </a:t>
            </a:r>
            <a:r>
              <a:rPr sz="1400" b="0">
                <a:solidFill>
                  <a:srgbClr val="334155"/>
                </a:solidFill>
                <a:latin typeface="Calibri"/>
              </a:rPr>
              <a:t>most repeated-question and report time returns as time for real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A COACH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The right answer, at the right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9488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A guided coach on our website — the President can test it personally.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60350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Answers any time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admissions, courses, deadlines, rules — in plain language.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Guides step by step</a:t>
            </a:r>
            <a:r>
              <a:rPr sz="1550" b="0">
                <a:solidFill>
                  <a:srgbClr val="334155"/>
                </a:solidFill>
                <a:latin typeface="Calibri"/>
              </a:rPr>
              <a:t> instead of leaving students lost in menus.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Hands off to the right office</a:t>
            </a:r>
            <a:r>
              <a:rPr sz="1550" b="0">
                <a:solidFill>
                  <a:srgbClr val="334155"/>
                </a:solidFill>
                <a:latin typeface="Calibri"/>
              </a:rPr>
              <a:t> when a person is needed.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0E9488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Fewer dropped applications</a:t>
            </a:r>
            <a:r>
              <a:rPr sz="1550" b="0">
                <a:solidFill>
                  <a:srgbClr val="334155"/>
                </a:solidFill>
                <a:latin typeface="Calibri"/>
              </a:rPr>
              <a:t>, lighter load on advising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300" y="2486660"/>
            <a:ext cx="3429000" cy="35204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43800" y="2423160"/>
            <a:ext cx="3429000" cy="35204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90104" y="2724912"/>
            <a:ext cx="3136392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2551176"/>
            <a:ext cx="777240" cy="9144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926080"/>
            <a:ext cx="2194560" cy="640080"/>
          </a:xfrm>
          <a:prstGeom prst="roundRect">
            <a:avLst/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92608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72B63"/>
                </a:solidFill>
                <a:latin typeface="Calibri"/>
              </a:rPr>
              <a:t>Which courses do I need next term?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703320"/>
            <a:ext cx="2331720" cy="96012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703320"/>
            <a:ext cx="2148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B5C45"/>
                </a:solidFill>
                <a:latin typeface="Calibri"/>
              </a:rPr>
              <a:t>3 core courses. Deadline: May 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846320"/>
            <a:ext cx="2880360" cy="54864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846320"/>
            <a:ext cx="2880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→  Go to enrolment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9488"/>
                </a:solidFill>
                <a:latin typeface="Calibri"/>
              </a:rPr>
              <a:t>PULSE · WHY IT IS NEXT-GENERATION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class of system top organisations now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B9CBEE"/>
                </a:solidFill>
                <a:latin typeface="Calibri"/>
              </a:rPr>
              <a:t>Built here, on our own systems — not a subscription that reads our private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76200" cy="1600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Answers only from our approved data — with the source shown.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2286000"/>
            <a:ext cx="76200" cy="1600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46888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Reasons in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94436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Checks its own draft before replying — fewer wrong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28600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2286000"/>
            <a:ext cx="76200" cy="1600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Remembers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94436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Carries context and learns our terms over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160520"/>
            <a:ext cx="76200" cy="1600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4340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Connected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1888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Works with our real systems and documents, live.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98264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160520"/>
            <a:ext cx="76200" cy="1600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434340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Controlled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81888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Every sensitive action needs a human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4160520"/>
            <a:ext cx="3529584" cy="160020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6448" y="4160520"/>
            <a:ext cx="76200" cy="1600200"/>
          </a:xfrm>
          <a:prstGeom prst="roundRect">
            <a:avLst/>
          </a:prstGeom>
          <a:solidFill>
            <a:srgbClr val="0EA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343400"/>
            <a:ext cx="3072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Ours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18888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Runs on our platform and computing — data stays inside AASTMT.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DATA TRUST · THE DATA-QUALITY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It fixes the data problems that break reports and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Bad data is the root cause of wrong reports and unreliable AI — Data Trust removes it at the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1518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Scattered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2724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One governed place — every dataset has an owner and a 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1764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8264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61518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No one trusts the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12724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Automatic quality checks; a clear pass/fail on each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9948" y="253238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246888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46888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61518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“Where did this come from?”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12724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Full history — always able to show which data produced a result.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3580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30682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Duplicate, inconsistent codes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81888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Shared reference lists keep everyone on the same values.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1764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98264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98264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430682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Months lost cleaning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81888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Approved datasets are reused, not rebuilt each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9948" y="4224020"/>
            <a:ext cx="3529584" cy="14630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56448" y="4160520"/>
            <a:ext cx="3529584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8" y="4160520"/>
            <a:ext cx="3529584" cy="635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6" y="4306824"/>
            <a:ext cx="316382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42318"/>
                </a:solidFill>
                <a:latin typeface="Calibri"/>
              </a:rPr>
              <a:t>✕  Stale data slips 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7616" y="4818888"/>
            <a:ext cx="31638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59E5B"/>
                </a:solidFill>
                <a:latin typeface="Calibri"/>
              </a:rPr>
              <a:t>→  </a:t>
            </a:r>
            <a:r>
              <a:rPr sz="1250" b="0">
                <a:solidFill>
                  <a:srgbClr val="334155"/>
                </a:solidFill>
                <a:latin typeface="Calibri"/>
              </a:rPr>
              <a:t>Freshness rules flag data that is too old to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DATA TRUST · ONE BASE FOR EVERY APP AND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The domain apps and the AI engines all run on the same trusted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Clean data is owned and checked once — every app and every AI reuses it, so nothing is built twice.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2542032" cy="76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Carbon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live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2046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8492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64992" y="2423160"/>
            <a:ext cx="2542032" cy="76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487168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Performarc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planned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6958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404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89904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9904" y="2423160"/>
            <a:ext cx="2542032" cy="76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9904" y="2487168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Sustainability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planned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1870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78316" y="2486660"/>
            <a:ext cx="2542032" cy="114300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14816" y="2423160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14816" y="2423160"/>
            <a:ext cx="2542032" cy="762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6" y="2487168"/>
            <a:ext cx="25420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Pulse AI engine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890"/>
                </a:solidFill>
                <a:latin typeface="Calibri"/>
              </a:rPr>
              <a:t>live · AI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6782" y="3566160"/>
            <a:ext cx="38100" cy="36576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3580" y="4041139"/>
            <a:ext cx="10881360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977639"/>
            <a:ext cx="10881360" cy="1554480"/>
          </a:xfrm>
          <a:prstGeom prst="round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3977639"/>
            <a:ext cx="10881360" cy="7620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DATA TRUST  —  clean · approved · versioned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6344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9CBEE"/>
                </a:solidFill>
                <a:latin typeface="Calibri"/>
              </a:rPr>
              <a:t>Owner + quality checks + version on every dataset   ·   hosts the domain apps AND the AI apps/engines   ·   one source of truth for reports and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715000"/>
            <a:ext cx="10881360" cy="566928"/>
          </a:xfrm>
          <a:prstGeom prst="roundRect">
            <a:avLst/>
          </a:prstGeom>
          <a:solidFill>
            <a:srgbClr val="EC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715000"/>
            <a:ext cx="508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B63"/>
                </a:solidFill>
                <a:latin typeface="Calibri"/>
              </a:rPr>
              <a:t>Value:  </a:t>
            </a:r>
            <a:r>
              <a:rPr sz="1350" b="0">
                <a:solidFill>
                  <a:srgbClr val="334155"/>
                </a:solidFill>
                <a:latin typeface="Calibri"/>
              </a:rPr>
              <a:t>add a new app cheaply, and trust every result — because the data underneath is already clean.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97706"/>
                </a:solidFill>
                <a:latin typeface="Calibri"/>
              </a:rPr>
              <a:t>CARBON · PROOF, ALREADY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Defensible emissions numbers for rankings and accreditation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The easiest value to see — it runs today and produces reports without manual rebuilding.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8521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Tracks emissions</a:t>
            </a:r>
            <a:r>
              <a:rPr sz="1550" b="0">
                <a:solidFill>
                  <a:srgbClr val="334155"/>
                </a:solidFill>
                <a:latin typeface="Calibri"/>
              </a:rPr>
              <a:t> with a clear, recognised standard.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Evidence attached</a:t>
            </a:r>
            <a:r>
              <a:rPr sz="1550" b="0">
                <a:solidFill>
                  <a:srgbClr val="334155"/>
                </a:solidFill>
                <a:latin typeface="Calibri"/>
              </a:rPr>
              <a:t> to every number, with full history.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Reports for rankings &amp; accreditation</a:t>
            </a:r>
            <a:r>
              <a:rPr sz="1550" b="0">
                <a:solidFill>
                  <a:srgbClr val="334155"/>
                </a:solidFill>
                <a:latin typeface="Calibri"/>
              </a:rPr>
              <a:t> — no manual rebuild.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150" b="1">
                <a:solidFill>
                  <a:srgbClr val="D97706"/>
                </a:solidFill>
                <a:latin typeface="Calibri"/>
              </a:rPr>
              <a:t>●  </a:t>
            </a:r>
            <a:r>
              <a:rPr sz="1550" b="1">
                <a:solidFill>
                  <a:srgbClr val="334155"/>
                </a:solidFill>
                <a:latin typeface="Calibri"/>
              </a:rPr>
              <a:t>Lower risk</a:t>
            </a:r>
            <a:r>
              <a:rPr sz="1550" b="0">
                <a:solidFill>
                  <a:srgbClr val="334155"/>
                </a:solidFill>
                <a:latin typeface="Calibri"/>
              </a:rPr>
              <a:t> of a wrong figure in an official submission.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1500" y="2669540"/>
            <a:ext cx="2057400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2606040"/>
            <a:ext cx="2057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606040"/>
            <a:ext cx="205740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2834640"/>
            <a:ext cx="2057400" cy="25603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1874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SPREADSHEET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3172968"/>
            <a:ext cx="180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Manual, scattered, an error waiting to happen.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79408" y="3246120"/>
            <a:ext cx="502920" cy="274320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91548" y="2669540"/>
            <a:ext cx="1993392" cy="15544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28048" y="2606040"/>
            <a:ext cx="1993392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28048" y="2606040"/>
            <a:ext cx="1993392" cy="45720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28048" y="2834640"/>
            <a:ext cx="1993392" cy="256032"/>
          </a:xfrm>
          <a:prstGeom prst="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606040"/>
            <a:ext cx="18105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CARBON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3172968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alibri"/>
              </a:rPr>
              <a:t>One clean, sourced, defensible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1500" y="4452620"/>
            <a:ext cx="4663440" cy="141732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4389120"/>
            <a:ext cx="4663440" cy="1417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553712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59E5B"/>
                </a:solidFill>
                <a:latin typeface="Calibri"/>
              </a:rPr>
              <a:t>● LIVE TODAY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Running for AASTMT now — the working proof that the base and the apps deliver.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NEXT APPS &amp; 12-MONTH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384048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B7890"/>
                </a:solidFill>
                <a:latin typeface="Calibri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B1220"/>
                </a:solidFill>
                <a:latin typeface="Calibri"/>
              </a:rPr>
              <a:t>More value on the same base — staged and low-risk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17904"/>
            <a:ext cx="10881360" cy="54864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17904"/>
            <a:ext cx="5080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17904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Bottom line:  </a:t>
            </a:r>
            <a:r>
              <a:rPr sz="1300" b="0">
                <a:solidFill>
                  <a:srgbClr val="334155"/>
                </a:solidFill>
                <a:latin typeface="Calibri"/>
              </a:rPr>
              <a:t>Each stage ends with a result you can see; we continue only if it delivered. No new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3580" y="2440940"/>
            <a:ext cx="5349240" cy="12344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76200" cy="12344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87168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Performarc — Academic KPIs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One place for KPIs, on time — no chasing spreadsheets.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420" y="2440940"/>
            <a:ext cx="5349240" cy="123444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377440"/>
            <a:ext cx="76200" cy="123444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487168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B1220"/>
                </a:solidFill>
                <a:latin typeface="Calibri"/>
              </a:rPr>
              <a:t>Sustainability — Goals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Goals tracked continuously — a report is always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3580" y="4041139"/>
            <a:ext cx="3291840" cy="1874519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977639"/>
            <a:ext cx="3291840" cy="50292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51959"/>
            <a:ext cx="3291840" cy="246888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MONTHS 1–4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36007"/>
            <a:ext cx="2834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0E9488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Student coach on the website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0E9488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Data Trust office started</a:t>
            </a:r>
          </a:p>
        </p:txBody>
      </p:sp>
      <p:sp>
        <p:nvSpPr>
          <p:cNvPr id="24" name="Diamond 23"/>
          <p:cNvSpPr/>
          <p:nvPr/>
        </p:nvSpPr>
        <p:spPr>
          <a:xfrm>
            <a:off x="3995928" y="4571999"/>
            <a:ext cx="365760" cy="365760"/>
          </a:xfrm>
          <a:prstGeom prst="diamond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98340" y="4041139"/>
            <a:ext cx="3291840" cy="1874519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34840" y="3977639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3977639"/>
            <a:ext cx="3291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251959"/>
            <a:ext cx="3291840" cy="2468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77639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MONTHS 5–8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4636007"/>
            <a:ext cx="2834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Staff coworker in 1–2 departments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2563EB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First research dataset reused</a:t>
            </a:r>
          </a:p>
        </p:txBody>
      </p:sp>
      <p:sp>
        <p:nvSpPr>
          <p:cNvPr id="31" name="Diamond 30"/>
          <p:cNvSpPr/>
          <p:nvPr/>
        </p:nvSpPr>
        <p:spPr>
          <a:xfrm>
            <a:off x="7790688" y="4571999"/>
            <a:ext cx="365760" cy="365760"/>
          </a:xfrm>
          <a:prstGeom prst="diamond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93100" y="4041139"/>
            <a:ext cx="3291840" cy="1874519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3977639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0" y="3977639"/>
            <a:ext cx="3291840" cy="5029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4251959"/>
            <a:ext cx="3291840" cy="2468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977639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MONTHS 9–12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636007"/>
            <a:ext cx="2834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D97706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Performarc &amp; Sustainability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1">
                <a:solidFill>
                  <a:srgbClr val="D97706"/>
                </a:solidFill>
                <a:latin typeface="Calibri"/>
              </a:rPr>
              <a:t>●  </a:t>
            </a:r>
            <a:r>
              <a:rPr sz="1300" b="0">
                <a:solidFill>
                  <a:srgbClr val="334155"/>
                </a:solidFill>
                <a:latin typeface="Calibri"/>
              </a:rPr>
              <a:t>A second team reuses the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7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63500" cy="6858000"/>
          </a:xfrm>
          <a:prstGeom prst="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DB8F0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7490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>
                <a:solidFill>
                  <a:srgbClr val="B9CBEE"/>
                </a:solidFill>
                <a:latin typeface="Calibri"/>
              </a:rPr>
              <a:t>Approve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74903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9CBEE"/>
                </a:solidFill>
                <a:latin typeface="Calibri"/>
              </a:rPr>
              <a:t>We already own the platform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9CBEE"/>
                </a:solidFill>
                <a:latin typeface="Calibri"/>
              </a:rPr>
              <a:t>and the computing.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DB8F0"/>
                </a:solidFill>
                <a:latin typeface="Calibri"/>
              </a:rPr>
              <a:t>First working result within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DB8F0"/>
                </a:solidFill>
                <a:latin typeface="Calibri"/>
              </a:rPr>
              <a:t>the first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420" y="111506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105156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051560"/>
            <a:ext cx="76200" cy="1097280"/>
          </a:xfrm>
          <a:prstGeom prst="roundRect">
            <a:avLst/>
          </a:prstGeom>
          <a:solidFill>
            <a:srgbClr val="0E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05156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Start where it shows fast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Student coach + Data Trust office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420" y="239522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233172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2331720"/>
            <a:ext cx="762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33172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One or two departments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Partners for the staff coworker.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420" y="3675379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3611879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3611879"/>
            <a:ext cx="76200" cy="10972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3611879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Use the computing we own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Access to existing systems for research.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420" y="4955540"/>
            <a:ext cx="6492240" cy="1097280"/>
          </a:xfrm>
          <a:prstGeom prst="roundRect">
            <a:avLst/>
          </a:prstGeom>
          <a:solidFill>
            <a:srgbClr val="DD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74920" y="4892040"/>
            <a:ext cx="6492240" cy="1097280"/>
          </a:xfrm>
          <a:prstGeom prst="roundRect">
            <a:avLst/>
          </a:prstGeom>
          <a:solidFill>
            <a:srgbClr val="16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4892040"/>
            <a:ext cx="76200" cy="1097280"/>
          </a:xfrm>
          <a:prstGeom prst="roundRect">
            <a:avLst/>
          </a:prstGeom>
          <a:solidFill>
            <a:srgbClr val="15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4892040"/>
            <a:ext cx="60350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 small dedicated team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B9CBEE"/>
                </a:solidFill>
                <a:latin typeface="Calibri"/>
              </a:rPr>
              <a:t>No new hardware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