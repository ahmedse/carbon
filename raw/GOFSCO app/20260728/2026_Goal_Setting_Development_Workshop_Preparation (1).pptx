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75" r:id="rId3"/>
    <p:sldId id="264" r:id="rId4"/>
    <p:sldId id="280" r:id="rId5"/>
    <p:sldId id="266" r:id="rId6"/>
    <p:sldId id="267" r:id="rId7"/>
    <p:sldId id="269" r:id="rId8"/>
    <p:sldId id="268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Light" panose="020B0604020202020204" charset="0"/>
      <p:regular r:id="rId15"/>
      <p:bold r:id="rId16"/>
      <p:italic r:id="rId17"/>
      <p:boldItalic r:id="rId18"/>
    </p:embeddedFont>
    <p:embeddedFont>
      <p:font typeface="Inter Medium" panose="020B060402020202020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SemiBold" panose="000007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17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ADA171-FBB6-4595-9728-B14EE687BFC0}">
  <a:tblStyle styleId="{FFADA171-FBB6-4595-9728-B14EE687BF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>
          <a:extLst>
            <a:ext uri="{FF2B5EF4-FFF2-40B4-BE49-F238E27FC236}">
              <a16:creationId xmlns:a16="http://schemas.microsoft.com/office/drawing/2014/main" id="{81204858-2FDC-17AB-6B0B-D83F6551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:notes">
            <a:extLst>
              <a:ext uri="{FF2B5EF4-FFF2-40B4-BE49-F238E27FC236}">
                <a16:creationId xmlns:a16="http://schemas.microsoft.com/office/drawing/2014/main" id="{C935B71C-23CF-32D0-79FD-3F8B6C381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1:notes">
            <a:extLst>
              <a:ext uri="{FF2B5EF4-FFF2-40B4-BE49-F238E27FC236}">
                <a16:creationId xmlns:a16="http://schemas.microsoft.com/office/drawing/2014/main" id="{F5C91172-2748-3EC2-9D58-415B265B28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414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100625" y="2473672"/>
            <a:ext cx="599074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2026 Goal Setting &amp;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750" b="1" i="0" u="none" strike="noStrike" cap="none">
                <a:solidFill>
                  <a:srgbClr val="FCC200"/>
                </a:solidFill>
                <a:latin typeface="Poppins"/>
                <a:ea typeface="Poppins"/>
                <a:cs typeface="Poppins"/>
                <a:sym typeface="Poppins"/>
              </a:rPr>
              <a:t>Development Workshop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47875" y="3902422"/>
            <a:ext cx="8096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Aligning Individual Excellence with Corporate Strategy • Proposing an Optimized Full-Day Workshop Plan running from 08:30 AM to 15:00 PM</a:t>
            </a:r>
            <a:endParaRPr/>
          </a:p>
        </p:txBody>
      </p:sp>
      <p:pic>
        <p:nvPicPr>
          <p:cNvPr id="88" name="Picture 87" descr="gofsco logo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720" y="914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79F013D6-1EB4-85ED-18FD-1DC06EDFB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Cascading goals</a:t>
            </a: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2EB7068-A011-4DEE-9E2D-26EAEC202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 Strategic management process that translates high-level organizational objectives into specific, actionable goals for departments, teams, and individual employees. It ensures every person's daily work directly contributes to the company's overarching vision/strategy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94746-4D3A-7FB4-C71A-FADD323CC7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13" r="629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pic>
        <p:nvPicPr>
          <p:cNvPr id="27" name="Picture 26" descr="gofsco logo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91440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4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62137"/>
            <a:ext cx="1981200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33700" y="1862137"/>
            <a:ext cx="1981200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05400" y="1862137"/>
            <a:ext cx="1981200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77100" y="1862137"/>
            <a:ext cx="1981200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48800" y="1862137"/>
            <a:ext cx="1981200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6124575"/>
            <a:ext cx="106680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 txBox="1"/>
          <p:nvPr/>
        </p:nvSpPr>
        <p:spPr>
          <a:xfrm>
            <a:off x="762000" y="1171575"/>
            <a:ext cx="6000750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SMART Goal-Setting Framework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762000" y="538162"/>
            <a:ext cx="26479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Quality Benchmarks</a:t>
            </a:r>
            <a:endParaRPr dirty="0"/>
          </a:p>
        </p:txBody>
      </p:sp>
      <p:sp>
        <p:nvSpPr>
          <p:cNvPr id="286" name="Google Shape;286;p21"/>
          <p:cNvSpPr txBox="1"/>
          <p:nvPr/>
        </p:nvSpPr>
        <p:spPr>
          <a:xfrm>
            <a:off x="762000" y="6248400"/>
            <a:ext cx="27717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GOFSCO PERFORMANCE MANAGEMENT • 2026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10972800" y="624840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9</a:t>
            </a:r>
            <a:endParaRPr/>
          </a:p>
        </p:txBody>
      </p:sp>
      <p:pic>
        <p:nvPicPr>
          <p:cNvPr id="291" name="Google Shape;291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0600" y="212883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990600" y="2719387"/>
            <a:ext cx="159019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Specific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990600" y="3071812"/>
            <a:ext cx="1514475" cy="92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Establish plain, highly explicit statements. Avoid ambiguous phrasing. Detail the target metrics clearly.</a:t>
            </a:r>
            <a:endParaRPr/>
          </a:p>
        </p:txBody>
      </p:sp>
      <p:pic>
        <p:nvPicPr>
          <p:cNvPr id="295" name="Google Shape;295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62300" y="212883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1"/>
          <p:cNvSpPr txBox="1"/>
          <p:nvPr/>
        </p:nvSpPr>
        <p:spPr>
          <a:xfrm>
            <a:off x="3162300" y="2719387"/>
            <a:ext cx="159019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Measurable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3162300" y="3071812"/>
            <a:ext cx="1514475" cy="92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Establish solid criteria such as percentages, currency, or counts to evaluate objective completion progress.</a:t>
            </a:r>
            <a:endParaRPr/>
          </a:p>
        </p:txBody>
      </p:sp>
      <p:pic>
        <p:nvPicPr>
          <p:cNvPr id="299" name="Google Shape;299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334000" y="212883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1"/>
          <p:cNvSpPr txBox="1"/>
          <p:nvPr/>
        </p:nvSpPr>
        <p:spPr>
          <a:xfrm>
            <a:off x="5334000" y="2719387"/>
            <a:ext cx="159019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Achievable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5334000" y="3071812"/>
            <a:ext cx="1514475" cy="92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Ensure targets stretch professional competence while remaining fully realistic and mathematically viable.</a:t>
            </a:r>
            <a:endParaRPr/>
          </a:p>
        </p:txBody>
      </p:sp>
      <p:pic>
        <p:nvPicPr>
          <p:cNvPr id="303" name="Google Shape;303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05700" y="212883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1"/>
          <p:cNvSpPr txBox="1"/>
          <p:nvPr/>
        </p:nvSpPr>
        <p:spPr>
          <a:xfrm>
            <a:off x="7505700" y="2719387"/>
            <a:ext cx="159019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Relevant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7505700" y="3071812"/>
            <a:ext cx="1514475" cy="1125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Align the targets with your role ,Dep &amp; standard Balanced Scorecard pillars and broader organizational strategy.</a:t>
            </a:r>
            <a:endParaRPr dirty="0"/>
          </a:p>
        </p:txBody>
      </p:sp>
      <p:pic>
        <p:nvPicPr>
          <p:cNvPr id="307" name="Google Shape;307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77400" y="212883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1"/>
          <p:cNvSpPr txBox="1"/>
          <p:nvPr/>
        </p:nvSpPr>
        <p:spPr>
          <a:xfrm>
            <a:off x="9677400" y="2719387"/>
            <a:ext cx="159019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Time-Bound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9677400" y="3071812"/>
            <a:ext cx="15144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Ensure every objective ends with a specific target completion date to maintain corporate drive.</a:t>
            </a:r>
            <a:endParaRPr/>
          </a:p>
        </p:txBody>
      </p:sp>
      <p:pic>
        <p:nvPicPr>
          <p:cNvPr id="310" name="Google Shape;310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0612" y="22288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276600" y="22288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34012" y="22288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1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577137" y="22288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1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791700" y="22288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Picture 314" descr="gofsco logo(2)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94720" y="914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17B884-F2CE-8118-26ED-68916B69C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516075" cy="2556631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Objectives and KPI template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A43B28-7EAD-142D-7C06-0F88AFAC9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416155"/>
              </p:ext>
            </p:extLst>
          </p:nvPr>
        </p:nvGraphicFramePr>
        <p:xfrm>
          <a:off x="3470787" y="1179870"/>
          <a:ext cx="8406581" cy="4892932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306876">
                  <a:extLst>
                    <a:ext uri="{9D8B030D-6E8A-4147-A177-3AD203B41FA5}">
                      <a16:colId xmlns:a16="http://schemas.microsoft.com/office/drawing/2014/main" val="3963887924"/>
                    </a:ext>
                  </a:extLst>
                </a:gridCol>
                <a:gridCol w="1056489">
                  <a:extLst>
                    <a:ext uri="{9D8B030D-6E8A-4147-A177-3AD203B41FA5}">
                      <a16:colId xmlns:a16="http://schemas.microsoft.com/office/drawing/2014/main" val="460451390"/>
                    </a:ext>
                  </a:extLst>
                </a:gridCol>
                <a:gridCol w="1094700">
                  <a:extLst>
                    <a:ext uri="{9D8B030D-6E8A-4147-A177-3AD203B41FA5}">
                      <a16:colId xmlns:a16="http://schemas.microsoft.com/office/drawing/2014/main" val="2899348355"/>
                    </a:ext>
                  </a:extLst>
                </a:gridCol>
                <a:gridCol w="1241344">
                  <a:extLst>
                    <a:ext uri="{9D8B030D-6E8A-4147-A177-3AD203B41FA5}">
                      <a16:colId xmlns:a16="http://schemas.microsoft.com/office/drawing/2014/main" val="1450240345"/>
                    </a:ext>
                  </a:extLst>
                </a:gridCol>
                <a:gridCol w="970914">
                  <a:extLst>
                    <a:ext uri="{9D8B030D-6E8A-4147-A177-3AD203B41FA5}">
                      <a16:colId xmlns:a16="http://schemas.microsoft.com/office/drawing/2014/main" val="2272970636"/>
                    </a:ext>
                  </a:extLst>
                </a:gridCol>
                <a:gridCol w="648929">
                  <a:extLst>
                    <a:ext uri="{9D8B030D-6E8A-4147-A177-3AD203B41FA5}">
                      <a16:colId xmlns:a16="http://schemas.microsoft.com/office/drawing/2014/main" val="132912479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665126562"/>
                    </a:ext>
                  </a:extLst>
                </a:gridCol>
                <a:gridCol w="580103">
                  <a:extLst>
                    <a:ext uri="{9D8B030D-6E8A-4147-A177-3AD203B41FA5}">
                      <a16:colId xmlns:a16="http://schemas.microsoft.com/office/drawing/2014/main" val="1718642758"/>
                    </a:ext>
                  </a:extLst>
                </a:gridCol>
                <a:gridCol w="1130710">
                  <a:extLst>
                    <a:ext uri="{9D8B030D-6E8A-4147-A177-3AD203B41FA5}">
                      <a16:colId xmlns:a16="http://schemas.microsoft.com/office/drawing/2014/main" val="81618366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705610401"/>
                    </a:ext>
                  </a:extLst>
                </a:gridCol>
              </a:tblGrid>
              <a:tr h="5788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Sr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Goal Name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Measurement (KPI)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Target Unit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Target Value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Group(BSC)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Target Date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272154"/>
                  </a:ext>
                </a:extLst>
              </a:tr>
              <a:tr h="5788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Enhance Sales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$ Total Sales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Units Sold * Sale Price Per Unit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$ Currency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10,000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Finance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31-Dec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967708"/>
                  </a:ext>
                </a:extLst>
              </a:tr>
              <a:tr h="769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Enhance Customer Satisfaction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%Customer Satisfaction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Survey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% Percentage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Customer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17-Jun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228015"/>
                  </a:ext>
                </a:extLst>
              </a:tr>
              <a:tr h="769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Enhance Inventory Management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#Damaged Products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Damaged Products By employee mistakes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#Number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MAX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Internal Process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10-Oct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286853"/>
                  </a:ext>
                </a:extLst>
              </a:tr>
              <a:tr h="769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Enhance Team Technical Knowledge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# Number of courses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Learning Via LinkedIn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# Number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Learning &amp; Development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31-Dec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15703"/>
                  </a:ext>
                </a:extLst>
              </a:tr>
              <a:tr h="769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Enhance Lost Time Incident Rate 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Lost Time Incident Rate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Zero LTI 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# Number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Zero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20%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HSE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31-Dec</a:t>
                      </a:r>
                    </a:p>
                  </a:txBody>
                  <a:tcPr marL="89303" marR="4225" marT="68695" marB="68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746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2514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3087" y="2532757"/>
            <a:ext cx="8858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 txBox="1"/>
          <p:nvPr/>
        </p:nvSpPr>
        <p:spPr>
          <a:xfrm>
            <a:off x="1695450" y="3037582"/>
            <a:ext cx="880110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 Your Goals</a:t>
            </a:r>
            <a:endParaRPr dirty="0"/>
          </a:p>
        </p:txBody>
      </p:sp>
      <p:sp>
        <p:nvSpPr>
          <p:cNvPr id="372" name="Google Shape;372;p23"/>
          <p:cNvSpPr txBox="1"/>
          <p:nvPr/>
        </p:nvSpPr>
        <p:spPr>
          <a:xfrm>
            <a:off x="2762250" y="3837682"/>
            <a:ext cx="66675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 Goals using the templates</a:t>
            </a:r>
            <a:endParaRPr dirty="0"/>
          </a:p>
        </p:txBody>
      </p:sp>
      <p:pic>
        <p:nvPicPr>
          <p:cNvPr id="373" name="Picture 372" descr="gofsco logo(2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720" y="914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A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200" y="2000250"/>
            <a:ext cx="343212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72199" y="1862137"/>
            <a:ext cx="342260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124575"/>
            <a:ext cx="106680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4"/>
          <p:cNvSpPr txBox="1"/>
          <p:nvPr/>
        </p:nvSpPr>
        <p:spPr>
          <a:xfrm>
            <a:off x="762000" y="1171575"/>
            <a:ext cx="6780847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Portal Walkthrough &amp; Interactive Session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762000" y="538162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Technical Walkthrough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762000" y="6248400"/>
            <a:ext cx="27717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GOFSCO PERFORMANCE MANAGEMENT • 2026</a:t>
            </a: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10915650" y="6248400"/>
            <a:ext cx="5143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12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10610850" y="514350"/>
            <a:ext cx="819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GOF</a:t>
            </a:r>
            <a:r>
              <a:rPr lang="en-US" sz="1350" b="1" i="0" u="none" strike="noStrike" cap="none">
                <a:solidFill>
                  <a:srgbClr val="FCC200"/>
                </a:solidFill>
                <a:latin typeface="Poppins"/>
                <a:ea typeface="Poppins"/>
                <a:cs typeface="Poppins"/>
                <a:sym typeface="Poppins"/>
              </a:rPr>
              <a:t>SCO</a:t>
            </a:r>
            <a:endParaRPr/>
          </a:p>
        </p:txBody>
      </p:sp>
      <p:pic>
        <p:nvPicPr>
          <p:cNvPr id="393" name="Google Shape;393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1759" y="2024213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4"/>
          <p:cNvSpPr txBox="1"/>
          <p:nvPr/>
        </p:nvSpPr>
        <p:spPr>
          <a:xfrm>
            <a:off x="762000" y="2699259"/>
            <a:ext cx="310366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Poppins SemiBold"/>
                <a:cs typeface="Poppins SemiBold"/>
                <a:sym typeface="Poppins SemiBold"/>
              </a:rPr>
              <a:t>Present your goals</a:t>
            </a:r>
            <a:endParaRPr dirty="0"/>
          </a:p>
        </p:txBody>
      </p:sp>
      <p:sp>
        <p:nvSpPr>
          <p:cNvPr id="395" name="Google Shape;395;p24"/>
          <p:cNvSpPr txBox="1"/>
          <p:nvPr/>
        </p:nvSpPr>
        <p:spPr>
          <a:xfrm>
            <a:off x="835896" y="3111002"/>
            <a:ext cx="2955875" cy="67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Presentation of target entries, assigning specific metrics and BSC dimensions, and selecting critical evaluation dates.</a:t>
            </a:r>
            <a:endParaRPr dirty="0"/>
          </a:p>
        </p:txBody>
      </p:sp>
      <p:pic>
        <p:nvPicPr>
          <p:cNvPr id="397" name="Google Shape;397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49658" y="210026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4"/>
          <p:cNvSpPr txBox="1"/>
          <p:nvPr/>
        </p:nvSpPr>
        <p:spPr>
          <a:xfrm>
            <a:off x="5610324" y="2690812"/>
            <a:ext cx="310366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Q&amp;A Alignment</a:t>
            </a:r>
            <a:endParaRPr dirty="0"/>
          </a:p>
        </p:txBody>
      </p:sp>
      <p:sp>
        <p:nvSpPr>
          <p:cNvPr id="399" name="Google Shape;399;p24"/>
          <p:cNvSpPr txBox="1"/>
          <p:nvPr/>
        </p:nvSpPr>
        <p:spPr>
          <a:xfrm>
            <a:off x="5610324" y="3043237"/>
            <a:ext cx="29558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Open floor discussion for immediate employee feedback. Resolving functional questions regarding weighting divisions, system portals, and deadlines.</a:t>
            </a:r>
            <a:endParaRPr dirty="0"/>
          </a:p>
        </p:txBody>
      </p:sp>
      <p:pic>
        <p:nvPicPr>
          <p:cNvPr id="401" name="Google Shape;401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1759" y="2139129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681762" y="22002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Picture 402" descr="gofsco logo(2)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94720" y="914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>
          <a:extLst>
            <a:ext uri="{FF2B5EF4-FFF2-40B4-BE49-F238E27FC236}">
              <a16:creationId xmlns:a16="http://schemas.microsoft.com/office/drawing/2014/main" id="{83BC72E0-4700-9B35-A0BA-ADAE8D51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23" descr="image.png">
            <a:extLst>
              <a:ext uri="{FF2B5EF4-FFF2-40B4-BE49-F238E27FC236}">
                <a16:creationId xmlns:a16="http://schemas.microsoft.com/office/drawing/2014/main" id="{308B2996-DF03-5461-AA97-7B8AB6B577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>
            <a:extLst>
              <a:ext uri="{FF2B5EF4-FFF2-40B4-BE49-F238E27FC236}">
                <a16:creationId xmlns:a16="http://schemas.microsoft.com/office/drawing/2014/main" id="{C9C97769-FD40-F8B9-C55F-F88D0B70E912}"/>
              </a:ext>
            </a:extLst>
          </p:cNvPr>
          <p:cNvSpPr txBox="1"/>
          <p:nvPr/>
        </p:nvSpPr>
        <p:spPr>
          <a:xfrm>
            <a:off x="1695450" y="3037582"/>
            <a:ext cx="880110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 Your Goals</a:t>
            </a:r>
            <a:endParaRPr dirty="0"/>
          </a:p>
        </p:txBody>
      </p:sp>
      <p:sp>
        <p:nvSpPr>
          <p:cNvPr id="372" name="Google Shape;372;p23">
            <a:extLst>
              <a:ext uri="{FF2B5EF4-FFF2-40B4-BE49-F238E27FC236}">
                <a16:creationId xmlns:a16="http://schemas.microsoft.com/office/drawing/2014/main" id="{32861143-EB2B-6810-A78A-01023AC60940}"/>
              </a:ext>
            </a:extLst>
          </p:cNvPr>
          <p:cNvSpPr txBox="1"/>
          <p:nvPr/>
        </p:nvSpPr>
        <p:spPr>
          <a:xfrm>
            <a:off x="2762250" y="3837682"/>
            <a:ext cx="66675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Navigating the new system, verifying templates, reviewing test targets, and initializing your active 2026 profile.</a:t>
            </a:r>
            <a:endParaRPr dirty="0"/>
          </a:p>
        </p:txBody>
      </p:sp>
      <p:pic>
        <p:nvPicPr>
          <p:cNvPr id="373" name="Picture 372" descr="gofsco logo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720" y="91440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1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5"/>
          <p:cNvSpPr txBox="1"/>
          <p:nvPr/>
        </p:nvSpPr>
        <p:spPr>
          <a:xfrm>
            <a:off x="4385786" y="2624137"/>
            <a:ext cx="342042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3000375" y="3643312"/>
            <a:ext cx="6191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Let's work together to drive strategic execution and deliver unprecedented success for GOFSCO in 2026.</a:t>
            </a:r>
            <a:endParaRPr/>
          </a:p>
        </p:txBody>
      </p:sp>
      <p:pic>
        <p:nvPicPr>
          <p:cNvPr id="411" name="Picture 410" descr="gofsco logo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720" y="914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401</Words>
  <Application>Microsoft Office PowerPoint</Application>
  <PresentationFormat>Widescreen</PresentationFormat>
  <Paragraphs>94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Poppins SemiBold</vt:lpstr>
      <vt:lpstr>Calibri</vt:lpstr>
      <vt:lpstr>Inter Light</vt:lpstr>
      <vt:lpstr>Inter</vt:lpstr>
      <vt:lpstr>Inter Medium</vt:lpstr>
      <vt:lpstr>Poppins</vt:lpstr>
      <vt:lpstr>Office Theme</vt:lpstr>
      <vt:lpstr>PowerPoint Presentation</vt:lpstr>
      <vt:lpstr>Cascading goals </vt:lpstr>
      <vt:lpstr>PowerPoint Presentation</vt:lpstr>
      <vt:lpstr>Objectives and KPI template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 Mohamed Saad Alajmi</dc:creator>
  <cp:lastModifiedBy>Ali Mohamed Saad Alajmi</cp:lastModifiedBy>
  <cp:revision>9</cp:revision>
  <dcterms:modified xsi:type="dcterms:W3CDTF">2026-06-23T08:45:13Z</dcterms:modified>
</cp:coreProperties>
</file>