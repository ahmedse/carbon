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54864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F1FA"/>
                </a:solidFill>
                <a:latin typeface="Calibri"/>
              </a:rPr>
              <a:t>ARAB ACADEMY FOR SCIENCE, TECHNOLOGY &amp; MARITIME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Carbon Data Trust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E8F1FA"/>
                </a:solidFill>
                <a:latin typeface="Calibri"/>
              </a:rPr>
              <a:t>One place to trust your data, understand it, and act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1554480" cy="45720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F1FA"/>
                </a:solidFill>
                <a:latin typeface="Calibri"/>
              </a:rPr>
              <a:t>Checked &amp; traceable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3977639"/>
            <a:ext cx="1554480" cy="45720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4526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F1FA"/>
                </a:solidFill>
                <a:latin typeface="Calibri"/>
              </a:rPr>
              <a:t>AI that works with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977639"/>
            <a:ext cx="1554480" cy="45720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26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F1FA"/>
                </a:solidFill>
                <a:latin typeface="Calibri"/>
              </a:rPr>
              <a:t>Apps that drive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Board of Trustees Briefing  ·  26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1 ·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The Data Trust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A single trusted home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for all university data — not another database, but the backbone everything sits on.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Every number is checked, scored, and traced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back to its source, with a complete audit trail.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Who sees what is controlled precisely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through capability-based access (CBAC) — the right eyes, nothing leaks.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Built to grow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— new apps plug in without rebuilding the 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3931920" cy="40233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5CA8"/>
                </a:solidFill>
                <a:latin typeface="Calibri"/>
              </a:rPr>
              <a:t>What makes it a platform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Quality checks on every dataset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Master data, kept consistent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Full lineage &amp; audit trail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Governed, versioned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1 ·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Trust, for the people at the 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One version of the truth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222A35"/>
                </a:solidFill>
                <a:latin typeface="Calibri"/>
              </a:rPr>
              <a:t>No more arguing over whose spreadsheet is right. Leadership sees the same, agreed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Answers you can defend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222A35"/>
                </a:solidFill>
                <a:latin typeface="Calibri"/>
              </a:rPr>
              <a:t>Every figure links back to its source — audit-ready when regulators or auditors 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118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Software that helps you run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222A35"/>
                </a:solidFill>
                <a:latin typeface="Calibri"/>
              </a:rPr>
              <a:t>Trusted data feeds the AI layer, turning the platform from a record-keeper into a decision tool.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11109960" cy="10058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result: leadership gets trustworthy answers, faster — the foundation every decision stands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2 · THE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Pulse — your AI coworker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Not a chatbot.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A coworker that plans, reasons, and learns from every conversation.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Knows your data, your rules, and your people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— and gets smarter the more it works.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Checks its own answers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before giving them. Built-in truthfulness guards mean no made-up numbers.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Never oversteps.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It only touches what it's allowed to (CBAC), and every action is recorded.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3931920" cy="40233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5CA8"/>
                </a:solidFill>
                <a:latin typeface="Calibri"/>
              </a:rPr>
              <a:t>Pulse works the way you do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Plans multi-step tasks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Learns from your feedback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Orchestrates other agents</a:t>
            </a:r>
          </a:p>
          <a:p>
            <a:pPr indent="-228600" marL="228600">
              <a:spcBef>
                <a:spcPts val="10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Explains how it reasoned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2 · WHY IT'S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Next-generation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28016" cy="105156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A separate, reusable brain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The intelligence isn't locked inside one app. It plugs into any system — this platform is just its first home.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128016" cy="105156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It grows safely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New skills and tools are added on the outside. The core never breaks, so it gets stronger without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128016" cy="105156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It improves over time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Every interaction feeds back — the software gets smarter with use, the way a good team does.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Carbon Footprint — from coverage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09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Not data collection.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A decision tool for emissions across the whole campus.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It answers: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where do we emit, how much, where's the trend, and what should we do about it?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From A to B: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knowing what we emit (A) → actually reducing it, tracked against real targets (B).</a:t>
            </a:r>
          </a:p>
          <a:p>
            <a:pPr indent="-205740" marL="205740">
              <a:lnSpc>
                <a:spcPct val="115000"/>
              </a:lnSpc>
              <a:spcAft>
                <a:spcPts val="1600"/>
              </a:spcAft>
              <a:buChar char="▪"/>
              <a:buFont typeface="Calibri"/>
            </a:pPr>
            <a:r>
              <a:rPr sz="1600" b="1" i="0">
                <a:solidFill>
                  <a:srgbClr val="005CA8"/>
                </a:solidFill>
                <a:latin typeface="Calibri"/>
              </a:rPr>
              <a:t>And more:  </a:t>
            </a:r>
            <a:r>
              <a:rPr sz="1600" b="0" i="0">
                <a:solidFill>
                  <a:srgbClr val="222A35"/>
                </a:solidFill>
                <a:latin typeface="Calibri"/>
              </a:rPr>
              <a:t>audit-ready GHG inventory (Scope 1/2/3, SBTi targets), campus coverage, forecasting.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Carbon Footprint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Where do we emit?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Broken down by campus, building, fleet, and activity — so you see the hotspots, not one blurry total.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How much?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Real, measured tonnes — calculated from activity data, never a guess.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Where's the trend?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Up, down, or flat — and why. You see the direction before it becomes a problem.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5440680" cy="1783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794760"/>
            <a:ext cx="54406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2336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What do we do?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Ranked actions with the expected impact of each — so effort goes where it 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Coverage that's audit-ready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5CA8"/>
                </a:solidFill>
                <a:latin typeface="Calibri"/>
              </a:rPr>
              <a:t>Scope 1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555555"/>
                </a:solidFill>
                <a:latin typeface="Calibri"/>
              </a:rPr>
              <a:t>Direct emissions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Fuel we burn ourselves — fleet, generators, campus equipment.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2E"/>
                </a:solidFill>
                <a:latin typeface="Calibri"/>
              </a:rPr>
              <a:t>Scope 2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555555"/>
                </a:solidFill>
                <a:latin typeface="Calibri"/>
              </a:rPr>
              <a:t>Purchased energy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The electricity and cooling we buy — powering buildings and labs.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1188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0E7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C4F"/>
                </a:solidFill>
                <a:latin typeface="Calibri"/>
              </a:rPr>
              <a:t>Scope 3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555555"/>
                </a:solidFill>
                <a:latin typeface="Calibri"/>
              </a:rPr>
              <a:t>The wider chain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22A35"/>
                </a:solidFill>
                <a:latin typeface="Calibri"/>
              </a:rPr>
              <a:t>Travel, procurement, waste — emissions from everything we buy and 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1109960" cy="10972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Aligned to GHG Protocol · SBTi targets · full campus coverage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E8F1FA"/>
                </a:solidFill>
                <a:latin typeface="Calibri"/>
              </a:rPr>
              <a:t>Auditors get a complete, traceable inventory — not a spreadsheet.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DIMENSION 3 · THE DOMAIN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From A to B — the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406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40680" cy="73152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2E"/>
                </a:solidFill>
                <a:latin typeface="Calibri"/>
              </a:rPr>
              <a:t>A — Know what we emit</a:t>
            </a:r>
          </a:p>
          <a:p>
            <a:pPr indent="-228600" marL="228600">
              <a:spcBef>
                <a:spcPts val="8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Measure every source, campus-wide</a:t>
            </a:r>
          </a:p>
          <a:p>
            <a:pPr indent="-228600" marL="228600">
              <a:spcBef>
                <a:spcPts val="8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Verify the numbers — trusted &amp; traceable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440680" cy="237744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40680" cy="73152"/>
          </a:xfrm>
          <a:prstGeom prst="rect">
            <a:avLst/>
          </a:prstGeom>
          <a:solidFill>
            <a:srgbClr val="0E7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2E"/>
                </a:solidFill>
                <a:latin typeface="Calibri"/>
              </a:rPr>
              <a:t>B — Reduce against targets</a:t>
            </a:r>
          </a:p>
          <a:p>
            <a:pPr indent="-228600" marL="228600">
              <a:spcBef>
                <a:spcPts val="8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Set real reduction targets (SBTi)</a:t>
            </a:r>
          </a:p>
          <a:p>
            <a:pPr indent="-228600" marL="228600">
              <a:spcBef>
                <a:spcPts val="800"/>
              </a:spcBef>
              <a:spcAft>
                <a:spcPts val="0"/>
              </a:spcAft>
              <a:buChar char="•"/>
              <a:buFont typeface="Calibri"/>
            </a:pPr>
            <a:r>
              <a:rPr sz="1350" b="0" i="0">
                <a:solidFill>
                  <a:srgbClr val="222A35"/>
                </a:solidFill>
                <a:latin typeface="Calibri"/>
              </a:rPr>
              <a:t>Track progress &amp; forecast the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 targets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4663440"/>
            <a:ext cx="1691640" cy="548640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4663440"/>
            <a:ext cx="169164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4663440"/>
            <a:ext cx="169164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109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555"/>
                </a:solidFill>
                <a:latin typeface="Calibri"/>
              </a:rPr>
              <a:t>Forecasting: if we take action X, emissions drop to Y by 2030 — you decide with the end in sight.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CA8"/>
                </a:solidFill>
                <a:latin typeface="Calibri"/>
              </a:rPr>
              <a:t>ONE PLATFORM,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The big picture — and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011680" cy="36576"/>
          </a:xfrm>
          <a:prstGeom prst="rect">
            <a:avLst/>
          </a:prstGeom>
          <a:solidFill>
            <a:srgbClr val="00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019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Domain apps on the trusted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005CA8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791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Pulse — the AI coworker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2103120" cy="6400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5643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A35"/>
                </a:solidFill>
                <a:latin typeface="Calibri"/>
              </a:rPr>
              <a:t>The Data Trust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783080"/>
            <a:ext cx="4160520" cy="26517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96596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CA8"/>
                </a:solidFill>
                <a:latin typeface="Calibri"/>
              </a:rPr>
              <a:t>Already mapped for AASTMT</a:t>
            </a:r>
          </a:p>
          <a:p>
            <a:pPr indent="-228600" marL="228600">
              <a:spcBef>
                <a:spcPts val="700"/>
              </a:spcBef>
              <a:spcAft>
                <a:spcPts val="0"/>
              </a:spcAft>
              <a:buChar char="•"/>
              <a:buFont typeface="Calibri"/>
            </a:pPr>
            <a:r>
              <a:rPr sz="1250" b="0" i="0">
                <a:solidFill>
                  <a:srgbClr val="222A35"/>
                </a:solidFill>
                <a:latin typeface="Calibri"/>
              </a:rPr>
              <a:t>Healthy Foods Factory (sales &amp; operations AI)</a:t>
            </a:r>
          </a:p>
          <a:p>
            <a:pPr indent="-228600" marL="228600">
              <a:spcBef>
                <a:spcPts val="700"/>
              </a:spcBef>
              <a:spcAft>
                <a:spcPts val="0"/>
              </a:spcAft>
              <a:buChar char="•"/>
              <a:buFont typeface="Calibri"/>
            </a:pPr>
            <a:r>
              <a:rPr sz="1250" b="0" i="0">
                <a:solidFill>
                  <a:srgbClr val="222A35"/>
                </a:solidFill>
                <a:latin typeface="Calibri"/>
              </a:rPr>
              <a:t>Facility Management</a:t>
            </a:r>
          </a:p>
          <a:p>
            <a:pPr indent="-228600" marL="228600">
              <a:spcBef>
                <a:spcPts val="700"/>
              </a:spcBef>
              <a:spcAft>
                <a:spcPts val="0"/>
              </a:spcAft>
              <a:buChar char="•"/>
              <a:buFont typeface="Calibri"/>
            </a:pPr>
            <a:r>
              <a:rPr sz="1250" b="0" i="0">
                <a:solidFill>
                  <a:srgbClr val="222A35"/>
                </a:solidFill>
                <a:latin typeface="Calibri"/>
              </a:rPr>
              <a:t>Academic Portfolio</a:t>
            </a:r>
          </a:p>
          <a:p>
            <a:pPr indent="-228600" marL="228600">
              <a:spcBef>
                <a:spcPts val="700"/>
              </a:spcBef>
              <a:spcAft>
                <a:spcPts val="0"/>
              </a:spcAft>
              <a:buChar char="•"/>
              <a:buFont typeface="Calibri"/>
            </a:pPr>
            <a:r>
              <a:rPr sz="1250" b="0" i="0">
                <a:solidFill>
                  <a:srgbClr val="222A35"/>
                </a:solidFill>
                <a:latin typeface="Calibri"/>
              </a:rPr>
              <a:t>HR &amp; performance dashboards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109960" cy="12801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F1FA"/>
                </a:solidFill>
                <a:latin typeface="Calibri"/>
              </a:rPr>
              <a:t>The ask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Approve the roadmap and endorse the next phase of rollout.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Carbon Data Trust Platform · AASTMT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