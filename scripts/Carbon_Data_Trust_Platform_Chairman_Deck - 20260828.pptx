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61488"/>
            <a:ext cx="12191695" cy="54864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4800" b="1" i="0" dirty="0">
                <a:solidFill>
                  <a:srgbClr val="FFFFFF"/>
                </a:solidFill>
                <a:latin typeface="Calibri"/>
              </a:rPr>
              <a:t>AASTMT</a:t>
            </a:r>
            <a:r>
              <a:rPr sz="4800" b="1" i="0" dirty="0">
                <a:solidFill>
                  <a:srgbClr val="FFFFFF"/>
                </a:solidFill>
                <a:latin typeface="Calibri"/>
              </a:rPr>
              <a:t> Data Trust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 i="1" dirty="0">
                <a:solidFill>
                  <a:srgbClr val="E8F1FA"/>
                </a:solidFill>
                <a:latin typeface="Calibri"/>
              </a:rPr>
              <a:t>One place to trust data, understand it, and act on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3977638"/>
            <a:ext cx="1798625" cy="548641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E8F1FA"/>
                </a:solidFill>
                <a:latin typeface="Calibri"/>
              </a:rPr>
              <a:t>Checked &amp; </a:t>
            </a:r>
            <a:r>
              <a:rPr sz="1400" b="0" i="0" dirty="0">
                <a:solidFill>
                  <a:srgbClr val="E8F1FA"/>
                </a:solidFill>
                <a:latin typeface="Calibri"/>
              </a:rPr>
              <a:t>traceable</a:t>
            </a:r>
            <a:r>
              <a:rPr sz="1200" b="0" i="0" dirty="0">
                <a:solidFill>
                  <a:srgbClr val="E8F1FA"/>
                </a:solidFill>
                <a:latin typeface="Calibri"/>
              </a:rPr>
              <a:t>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59" y="3977638"/>
            <a:ext cx="1722121" cy="548641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4526280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F1FA"/>
                </a:solidFill>
                <a:latin typeface="Calibri"/>
              </a:rPr>
              <a:t>AI that works with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19" y="3977638"/>
            <a:ext cx="1798625" cy="548641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526280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E8F1FA"/>
                </a:solidFill>
                <a:latin typeface="Calibri"/>
              </a:rPr>
              <a:t>Apps</a:t>
            </a:r>
            <a:r>
              <a:rPr sz="1200" b="0" i="0" dirty="0">
                <a:solidFill>
                  <a:srgbClr val="E8F1FA"/>
                </a:solidFill>
                <a:latin typeface="Calibri"/>
              </a:rPr>
              <a:t> that drive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332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555555"/>
                </a:solidFill>
                <a:latin typeface="Calibri"/>
              </a:rPr>
              <a:t>Data Trust Platform - </a:t>
            </a:r>
            <a:r>
              <a:rPr sz="1300" b="0" i="0" dirty="0">
                <a:solidFill>
                  <a:srgbClr val="555555"/>
                </a:solidFill>
                <a:latin typeface="Calibri"/>
              </a:rPr>
              <a:t>Briefing  ·  26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CA8"/>
                </a:solidFill>
                <a:latin typeface="Calibri"/>
              </a:rPr>
              <a:t>ONE PLATFORM, THREE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The big picture — and 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103120" cy="64008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90195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22A35"/>
                </a:solidFill>
                <a:latin typeface="Calibri"/>
              </a:rPr>
              <a:t>Domain apps on the trusted 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2103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/>
            <a:r>
              <a:rPr sz="1400" b="1" i="0">
                <a:solidFill>
                  <a:srgbClr val="005CA8"/>
                </a:solidFill>
                <a:latin typeface="Calibri"/>
              </a:rPr>
              <a:t>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7919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22A35"/>
                </a:solidFill>
                <a:latin typeface="Calibri"/>
              </a:rPr>
              <a:t>Pulse — the AI coworker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83280"/>
            <a:ext cx="2103120" cy="6400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45643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22A35"/>
                </a:solidFill>
                <a:latin typeface="Calibri"/>
              </a:rPr>
              <a:t>The Data Trust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783080"/>
            <a:ext cx="4160520" cy="26517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1965960"/>
            <a:ext cx="365760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005CA8"/>
                </a:solidFill>
                <a:latin typeface="Calibri"/>
              </a:rPr>
              <a:t>Domain Apps </a:t>
            </a:r>
            <a:r>
              <a:rPr sz="1400" b="1" i="0" dirty="0">
                <a:solidFill>
                  <a:srgbClr val="005CA8"/>
                </a:solidFill>
                <a:latin typeface="Calibri"/>
              </a:rPr>
              <a:t>Already mapped for AASTMT</a:t>
            </a:r>
          </a:p>
          <a:p>
            <a:pPr marL="228600" indent="-228600">
              <a:spcBef>
                <a:spcPts val="700"/>
              </a:spcBef>
              <a:buFontTx/>
              <a:buChar char="•"/>
            </a:pPr>
            <a:r>
              <a:rPr lang="en-US" sz="1400" dirty="0">
                <a:solidFill>
                  <a:srgbClr val="222A35"/>
                </a:solidFill>
              </a:rPr>
              <a:t>Academic Portfolio and KPIs.</a:t>
            </a:r>
          </a:p>
          <a:p>
            <a:pPr marL="228600" indent="-228600">
              <a:spcBef>
                <a:spcPts val="700"/>
              </a:spcBef>
              <a:spcAft>
                <a:spcPts val="0"/>
              </a:spcAft>
              <a:buChar char="•"/>
            </a:pPr>
            <a:r>
              <a:rPr lang="en-US" sz="1400" b="0" i="0" dirty="0">
                <a:solidFill>
                  <a:srgbClr val="222A35"/>
                </a:solidFill>
                <a:latin typeface="Calibri"/>
              </a:rPr>
              <a:t>Labs and F</a:t>
            </a:r>
            <a:r>
              <a:rPr sz="1400" b="0" i="0" dirty="0">
                <a:solidFill>
                  <a:srgbClr val="222A35"/>
                </a:solidFill>
                <a:latin typeface="Calibri"/>
              </a:rPr>
              <a:t>acility Management</a:t>
            </a:r>
            <a:r>
              <a:rPr lang="en-US" sz="1400" b="0" i="0" dirty="0">
                <a:solidFill>
                  <a:srgbClr val="222A35"/>
                </a:solidFill>
                <a:latin typeface="Calibri"/>
              </a:rPr>
              <a:t>.</a:t>
            </a:r>
            <a:endParaRPr sz="1400" b="0" i="0" dirty="0">
              <a:solidFill>
                <a:srgbClr val="222A35"/>
              </a:solidFill>
              <a:latin typeface="Calibri"/>
            </a:endParaRPr>
          </a:p>
          <a:p>
            <a:pPr marL="228600" indent="-228600">
              <a:spcBef>
                <a:spcPts val="700"/>
              </a:spcBef>
              <a:spcAft>
                <a:spcPts val="0"/>
              </a:spcAft>
              <a:buChar char="•"/>
            </a:pPr>
            <a:r>
              <a:rPr lang="en-US" sz="1400" b="0" i="0" dirty="0">
                <a:solidFill>
                  <a:srgbClr val="222A35"/>
                </a:solidFill>
                <a:latin typeface="Calibri"/>
              </a:rPr>
              <a:t>Research Projects and Publishing </a:t>
            </a:r>
            <a:r>
              <a:rPr lang="en-US" sz="1400" dirty="0">
                <a:solidFill>
                  <a:srgbClr val="222A35"/>
                </a:solidFill>
                <a:latin typeface="Calibri"/>
              </a:rPr>
              <a:t>C</a:t>
            </a:r>
            <a:r>
              <a:rPr lang="en-US" sz="1400" b="0" i="0" dirty="0">
                <a:solidFill>
                  <a:srgbClr val="222A35"/>
                </a:solidFill>
                <a:latin typeface="Calibri"/>
              </a:rPr>
              <a:t>oworker.</a:t>
            </a:r>
            <a:endParaRPr lang="en-US" sz="1400" dirty="0">
              <a:solidFill>
                <a:srgbClr val="222A35"/>
              </a:solidFill>
              <a:latin typeface="Calibri"/>
            </a:endParaRPr>
          </a:p>
          <a:p>
            <a:pPr marL="228600" indent="-228600">
              <a:spcBef>
                <a:spcPts val="700"/>
              </a:spcBef>
              <a:spcAft>
                <a:spcPts val="0"/>
              </a:spcAft>
              <a:buChar char="•"/>
            </a:pPr>
            <a:r>
              <a:rPr lang="en-US" sz="1400" b="0" i="0" dirty="0">
                <a:solidFill>
                  <a:srgbClr val="222A35"/>
                </a:solidFill>
                <a:latin typeface="Calibri"/>
              </a:rPr>
              <a:t>AASTMT Sustainability Goals Managements  </a:t>
            </a:r>
            <a:endParaRPr sz="1400" b="0" i="0" dirty="0">
              <a:solidFill>
                <a:srgbClr val="222A35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572000"/>
            <a:ext cx="11109960" cy="12801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10424160" cy="90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E8F1FA"/>
                </a:solidFill>
                <a:latin typeface="Calibri"/>
              </a:rPr>
              <a:t>The ask</a:t>
            </a:r>
          </a:p>
          <a:p>
            <a:pPr marL="285750" indent="-285750"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700" b="1" i="0" dirty="0">
                <a:solidFill>
                  <a:srgbClr val="FFFFFF"/>
                </a:solidFill>
                <a:latin typeface="Calibri"/>
              </a:rPr>
              <a:t>Approve the roadmap and endorse the next phase of rollout.</a:t>
            </a:r>
            <a:endParaRPr lang="en-US" sz="1700" b="1" dirty="0">
              <a:solidFill>
                <a:srgbClr val="FFFFFF"/>
              </a:solidFill>
              <a:latin typeface="Calibri"/>
            </a:endParaRPr>
          </a:p>
          <a:p>
            <a:pPr marL="285750" indent="-285750"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solidFill>
                  <a:srgbClr val="FFFFFF"/>
                </a:solidFill>
                <a:latin typeface="Calibri"/>
              </a:rPr>
              <a:t>Computing power, AI, Human Power.</a:t>
            </a:r>
            <a:endParaRPr sz="17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1" dirty="0">
                <a:solidFill>
                  <a:srgbClr val="555555"/>
                </a:solidFill>
                <a:latin typeface="Calibri"/>
              </a:rPr>
              <a:t>Carbon Data Trust Platform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005CA8"/>
                </a:solidFill>
                <a:latin typeface="Calibri"/>
              </a:rPr>
              <a:t>DIMENSION 1 · THE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1A1A2E"/>
                </a:solidFill>
                <a:latin typeface="Calibri"/>
              </a:rPr>
              <a:t>The Data Trust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904212" cy="2919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740" indent="-205740">
              <a:lnSpc>
                <a:spcPct val="115000"/>
              </a:lnSpc>
              <a:spcAft>
                <a:spcPts val="1600"/>
              </a:spcAft>
              <a:buChar char="▪"/>
            </a:pPr>
            <a:r>
              <a:rPr b="1" i="0" dirty="0">
                <a:solidFill>
                  <a:srgbClr val="005CA8"/>
                </a:solidFill>
                <a:latin typeface="Calibri"/>
              </a:rPr>
              <a:t>A single trusted home  </a:t>
            </a:r>
            <a:r>
              <a:rPr b="0" i="0" dirty="0">
                <a:solidFill>
                  <a:srgbClr val="222A35"/>
                </a:solidFill>
                <a:latin typeface="Calibri"/>
              </a:rPr>
              <a:t>for </a:t>
            </a:r>
            <a:r>
              <a:rPr lang="en-US" b="0" i="0" dirty="0">
                <a:solidFill>
                  <a:srgbClr val="222A35"/>
                </a:solidFill>
                <a:latin typeface="Calibri"/>
              </a:rPr>
              <a:t>relevant</a:t>
            </a:r>
            <a:r>
              <a:rPr b="0" i="0" dirty="0">
                <a:solidFill>
                  <a:srgbClr val="222A35"/>
                </a:solidFill>
                <a:latin typeface="Calibri"/>
              </a:rPr>
              <a:t> data — not another database, but the backbone everything sits on.</a:t>
            </a:r>
          </a:p>
          <a:p>
            <a:pPr marL="205740" indent="-205740">
              <a:lnSpc>
                <a:spcPct val="115000"/>
              </a:lnSpc>
              <a:spcAft>
                <a:spcPts val="1600"/>
              </a:spcAft>
              <a:buChar char="▪"/>
            </a:pPr>
            <a:r>
              <a:rPr b="1" i="0" dirty="0">
                <a:solidFill>
                  <a:srgbClr val="005CA8"/>
                </a:solidFill>
                <a:latin typeface="Calibri"/>
              </a:rPr>
              <a:t>Every number is checked, scored, and traced  </a:t>
            </a:r>
            <a:r>
              <a:rPr b="0" i="0" dirty="0">
                <a:solidFill>
                  <a:srgbClr val="222A35"/>
                </a:solidFill>
                <a:latin typeface="Calibri"/>
              </a:rPr>
              <a:t>back to its source, with a complete audit trail.</a:t>
            </a:r>
          </a:p>
          <a:p>
            <a:pPr marL="205740" indent="-205740">
              <a:lnSpc>
                <a:spcPct val="115000"/>
              </a:lnSpc>
              <a:spcAft>
                <a:spcPts val="1600"/>
              </a:spcAft>
              <a:buChar char="▪"/>
            </a:pPr>
            <a:r>
              <a:rPr b="1" i="0" dirty="0">
                <a:solidFill>
                  <a:srgbClr val="005CA8"/>
                </a:solidFill>
                <a:latin typeface="Calibri"/>
              </a:rPr>
              <a:t>Who sees what is controlled precisely  </a:t>
            </a:r>
            <a:r>
              <a:rPr b="0" i="0" dirty="0">
                <a:solidFill>
                  <a:srgbClr val="222A35"/>
                </a:solidFill>
                <a:latin typeface="Calibri"/>
              </a:rPr>
              <a:t>through capability-based access (CBAC) — the right eyes, nothing leaks.</a:t>
            </a:r>
          </a:p>
          <a:p>
            <a:pPr marL="205740" indent="-205740">
              <a:lnSpc>
                <a:spcPct val="115000"/>
              </a:lnSpc>
              <a:spcAft>
                <a:spcPts val="1600"/>
              </a:spcAft>
              <a:buChar char="▪"/>
            </a:pPr>
            <a:r>
              <a:rPr b="1" i="0" dirty="0">
                <a:solidFill>
                  <a:srgbClr val="005CA8"/>
                </a:solidFill>
                <a:latin typeface="Calibri"/>
              </a:rPr>
              <a:t>Built to grow  </a:t>
            </a:r>
            <a:r>
              <a:rPr b="0" i="0" dirty="0">
                <a:solidFill>
                  <a:srgbClr val="222A35"/>
                </a:solidFill>
                <a:latin typeface="Calibri"/>
              </a:rPr>
              <a:t>— new apps plug in without rebuilding the core.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3931920" cy="40233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8001000" y="2148840"/>
            <a:ext cx="3291840" cy="1867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005CA8"/>
                </a:solidFill>
                <a:latin typeface="Calibri"/>
              </a:rPr>
              <a:t>What makes it a platform</a:t>
            </a:r>
          </a:p>
          <a:p>
            <a:pPr marL="228600" indent="-228600">
              <a:spcBef>
                <a:spcPts val="1000"/>
              </a:spcBef>
              <a:spcAft>
                <a:spcPts val="0"/>
              </a:spcAft>
              <a:buChar char="•"/>
            </a:pPr>
            <a:r>
              <a:rPr sz="1600" b="0" i="0" dirty="0">
                <a:solidFill>
                  <a:srgbClr val="222A35"/>
                </a:solidFill>
                <a:latin typeface="Calibri"/>
              </a:rPr>
              <a:t>Quality checks on every dataset</a:t>
            </a:r>
          </a:p>
          <a:p>
            <a:pPr marL="228600" indent="-228600">
              <a:spcBef>
                <a:spcPts val="1000"/>
              </a:spcBef>
              <a:spcAft>
                <a:spcPts val="0"/>
              </a:spcAft>
              <a:buChar char="•"/>
            </a:pPr>
            <a:r>
              <a:rPr sz="1600" b="0" i="0" dirty="0">
                <a:solidFill>
                  <a:srgbClr val="222A35"/>
                </a:solidFill>
                <a:latin typeface="Calibri"/>
              </a:rPr>
              <a:t>Master data, kept consistent</a:t>
            </a:r>
          </a:p>
          <a:p>
            <a:pPr marL="228600" indent="-228600">
              <a:spcBef>
                <a:spcPts val="1000"/>
              </a:spcBef>
              <a:spcAft>
                <a:spcPts val="0"/>
              </a:spcAft>
              <a:buChar char="•"/>
            </a:pPr>
            <a:r>
              <a:rPr sz="1600" b="0" i="0" dirty="0">
                <a:solidFill>
                  <a:srgbClr val="222A35"/>
                </a:solidFill>
                <a:latin typeface="Calibri"/>
              </a:rPr>
              <a:t>Full lineage &amp; audit trail</a:t>
            </a:r>
          </a:p>
          <a:p>
            <a:pPr marL="228600" indent="-228600">
              <a:spcBef>
                <a:spcPts val="1000"/>
              </a:spcBef>
              <a:spcAft>
                <a:spcPts val="0"/>
              </a:spcAft>
              <a:buChar char="•"/>
            </a:pPr>
            <a:r>
              <a:rPr sz="1600" b="0" i="0" dirty="0">
                <a:solidFill>
                  <a:srgbClr val="222A35"/>
                </a:solidFill>
                <a:latin typeface="Calibri"/>
              </a:rPr>
              <a:t>Governed, versioned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0" i="1" dirty="0">
                <a:solidFill>
                  <a:srgbClr val="555555"/>
                </a:solidFill>
                <a:latin typeface="Calibri"/>
              </a:rPr>
              <a:t>AASTMT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Data Trust Platform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005CA8"/>
                </a:solidFill>
                <a:latin typeface="Calibri"/>
              </a:rPr>
              <a:t>DIMENSION 1 ·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Trust, for the people at the 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11880" cy="23774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611880" cy="73152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One version of the truth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222A35"/>
                </a:solidFill>
                <a:latin typeface="Calibri"/>
              </a:rPr>
              <a:t>No more arguing over whose spreadsheet is right. Leadership sees the same, agreed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611880" cy="23774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611880" cy="73152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Answers you can defend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222A35"/>
                </a:solidFill>
                <a:latin typeface="Calibri"/>
              </a:rPr>
              <a:t>Every figure links back to its source — audit-ready when regulators or auditors ask.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611880" cy="23774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3611880" cy="73152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Software that helps you run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222A35"/>
                </a:solidFill>
                <a:latin typeface="Calibri"/>
              </a:rPr>
              <a:t>Trusted data feeds the AI layer, turning the platform from a record-keeper into a decision tool.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72000"/>
            <a:ext cx="11109960" cy="10058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result: leadership gets trustworthy answers, faster — the foundation every decision stands 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i="1" dirty="0">
                <a:solidFill>
                  <a:srgbClr val="555555"/>
                </a:solidFill>
              </a:rPr>
              <a:t>AASTMT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Data Trust Platform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CA8"/>
                </a:solidFill>
                <a:latin typeface="Calibri"/>
              </a:rPr>
              <a:t>DIMENSION 2 · THE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Pulse — your AI coworker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740" indent="-205740">
              <a:lnSpc>
                <a:spcPct val="115000"/>
              </a:lnSpc>
              <a:spcAft>
                <a:spcPts val="1600"/>
              </a:spcAft>
              <a:buChar char="▪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Not a chatbot.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A coworker that plans, reasons, and learns from every conversation.</a:t>
            </a:r>
          </a:p>
          <a:p>
            <a:pPr marL="205740" indent="-205740">
              <a:lnSpc>
                <a:spcPct val="115000"/>
              </a:lnSpc>
              <a:spcAft>
                <a:spcPts val="1600"/>
              </a:spcAft>
              <a:buChar char="▪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Knows your data, your rules, and your people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— and gets smarter the more it works.</a:t>
            </a:r>
          </a:p>
          <a:p>
            <a:pPr marL="205740" indent="-205740">
              <a:lnSpc>
                <a:spcPct val="115000"/>
              </a:lnSpc>
              <a:spcAft>
                <a:spcPts val="1600"/>
              </a:spcAft>
              <a:buChar char="▪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Checks its own answers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before giving them. Built-in truthfulness guards mean no made-up numbers.</a:t>
            </a:r>
          </a:p>
          <a:p>
            <a:pPr marL="205740" indent="-205740">
              <a:lnSpc>
                <a:spcPct val="115000"/>
              </a:lnSpc>
              <a:spcAft>
                <a:spcPts val="1600"/>
              </a:spcAft>
              <a:buChar char="▪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Never oversteps.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It only touches what it's allowed to (CBAC), and every action is recorded.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3931920" cy="40233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214884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5CA8"/>
                </a:solidFill>
                <a:latin typeface="Calibri"/>
              </a:rPr>
              <a:t>Pulse works the way you do</a:t>
            </a:r>
          </a:p>
          <a:p>
            <a:pPr marL="228600" indent="-228600">
              <a:spcBef>
                <a:spcPts val="1000"/>
              </a:spcBef>
              <a:spcAft>
                <a:spcPts val="0"/>
              </a:spcAft>
              <a:buChar char="•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Plans multi-step tasks</a:t>
            </a:r>
          </a:p>
          <a:p>
            <a:pPr marL="228600" indent="-228600">
              <a:spcBef>
                <a:spcPts val="1000"/>
              </a:spcBef>
              <a:spcAft>
                <a:spcPts val="0"/>
              </a:spcAft>
              <a:buChar char="•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Learns from your feedback</a:t>
            </a:r>
          </a:p>
          <a:p>
            <a:pPr marL="228600" indent="-228600">
              <a:spcBef>
                <a:spcPts val="1000"/>
              </a:spcBef>
              <a:spcAft>
                <a:spcPts val="0"/>
              </a:spcAft>
              <a:buChar char="•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Orchestrates other agents</a:t>
            </a:r>
          </a:p>
          <a:p>
            <a:pPr marL="228600" indent="-228600">
              <a:spcBef>
                <a:spcPts val="1000"/>
              </a:spcBef>
              <a:spcAft>
                <a:spcPts val="0"/>
              </a:spcAft>
              <a:buChar char="•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Explains how it reasoned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i="1" dirty="0">
                <a:solidFill>
                  <a:srgbClr val="555555"/>
                </a:solidFill>
              </a:rPr>
              <a:t>AASTMT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Data Trust Platform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CA8"/>
                </a:solidFill>
                <a:latin typeface="Calibri"/>
              </a:rPr>
              <a:t>DIMENSION 3 · THE DOMAIN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Carbon Footprint — from coverage 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109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740" indent="-205740">
              <a:lnSpc>
                <a:spcPct val="115000"/>
              </a:lnSpc>
              <a:spcAft>
                <a:spcPts val="1600"/>
              </a:spcAft>
              <a:buChar char="▪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Not data collection.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A decision tool for emissions across the whole campus.</a:t>
            </a:r>
          </a:p>
          <a:p>
            <a:pPr marL="205740" indent="-205740">
              <a:lnSpc>
                <a:spcPct val="115000"/>
              </a:lnSpc>
              <a:spcAft>
                <a:spcPts val="1600"/>
              </a:spcAft>
              <a:buChar char="▪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It answers: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where do we emit, how much, where's the trend, and what should we do about it?</a:t>
            </a:r>
          </a:p>
          <a:p>
            <a:pPr marL="205740" indent="-205740">
              <a:lnSpc>
                <a:spcPct val="115000"/>
              </a:lnSpc>
              <a:spcAft>
                <a:spcPts val="1600"/>
              </a:spcAft>
              <a:buChar char="▪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From A to B: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knowing what we emit (A) → actually reducing it, tracked against real targets (B).</a:t>
            </a:r>
          </a:p>
          <a:p>
            <a:pPr marL="205740" indent="-205740">
              <a:lnSpc>
                <a:spcPct val="115000"/>
              </a:lnSpc>
              <a:spcAft>
                <a:spcPts val="1600"/>
              </a:spcAft>
              <a:buChar char="▪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And more: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audit-ready GHG inventory (Scope 1/2/3, SBTi targets), campus coverage, forecasting.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i="1" dirty="0">
                <a:solidFill>
                  <a:srgbClr val="555555"/>
                </a:solidFill>
              </a:rPr>
              <a:t>AASTMT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Data Trust Platform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CA8"/>
                </a:solidFill>
                <a:latin typeface="Calibri"/>
              </a:rPr>
              <a:t>DIMENSION 3 · THE DOMAIN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What Carbon Footprint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40680" cy="17830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40680" cy="73152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Where do we emit?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22A35"/>
                </a:solidFill>
                <a:latin typeface="Calibri"/>
              </a:rPr>
              <a:t>Broken down by campus, building, fleet, and activity — so you see the hotspots, not one blurry total.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5440680" cy="17830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5440680" cy="73152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How much?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22A35"/>
                </a:solidFill>
                <a:latin typeface="Calibri"/>
              </a:rPr>
              <a:t>Real, measured tonnes — calculated from activity data, never a guess.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94760"/>
            <a:ext cx="5440680" cy="17830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5440680" cy="73152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Where's the trend?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22A35"/>
                </a:solidFill>
                <a:latin typeface="Calibri"/>
              </a:rPr>
              <a:t>Up, down, or flat — and why. You see the direction before it becomes a problem.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794760"/>
            <a:ext cx="5440680" cy="17830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3794760"/>
            <a:ext cx="5440680" cy="73152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402336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What do we do?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22A35"/>
                </a:solidFill>
                <a:latin typeface="Calibri"/>
              </a:rPr>
              <a:t>Ranked actions with the expected impact of each — so effort goes where it counts.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i="1" dirty="0">
                <a:solidFill>
                  <a:srgbClr val="555555"/>
                </a:solidFill>
              </a:rPr>
              <a:t>AASTMT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Data Trust Platform 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CA8"/>
                </a:solidFill>
                <a:latin typeface="Calibri"/>
              </a:rPr>
              <a:t>DIMENSION 3 · THE DOMAIN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Coverage that's audit-ready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11880" cy="26517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611880" cy="73152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5CA8"/>
                </a:solidFill>
                <a:latin typeface="Calibri"/>
              </a:rPr>
              <a:t>Scope 1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555555"/>
                </a:solidFill>
                <a:latin typeface="Calibri"/>
              </a:rPr>
              <a:t>Direct emissions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222A35"/>
                </a:solidFill>
                <a:latin typeface="Calibri"/>
              </a:rPr>
              <a:t>Fuel we burn ourselves — fleet, generators, campus equipment.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611880" cy="26517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611880" cy="73152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05740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2E"/>
                </a:solidFill>
                <a:latin typeface="Calibri"/>
              </a:rPr>
              <a:t>Scope 2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555555"/>
                </a:solidFill>
                <a:latin typeface="Calibri"/>
              </a:rPr>
              <a:t>Purchased energy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222A35"/>
                </a:solidFill>
                <a:latin typeface="Calibri"/>
              </a:rPr>
              <a:t>The electricity and cooling we buy — powering buildings and labs.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611880" cy="26517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3611880" cy="73152"/>
          </a:xfrm>
          <a:prstGeom prst="rect">
            <a:avLst/>
          </a:prstGeom>
          <a:solidFill>
            <a:srgbClr val="0E7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205740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7C4F"/>
                </a:solidFill>
                <a:latin typeface="Calibri"/>
              </a:rPr>
              <a:t>Scope 3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555555"/>
                </a:solidFill>
                <a:latin typeface="Calibri"/>
              </a:rPr>
              <a:t>The wider chain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222A35"/>
                </a:solidFill>
                <a:latin typeface="Calibri"/>
              </a:rPr>
              <a:t>Travel, procurement, waste — emissions from everything we buy and 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54880"/>
            <a:ext cx="11109960" cy="10972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Aligned to GHG Protocol · SBTi targets · full campus coverage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50" b="0" i="0">
                <a:solidFill>
                  <a:srgbClr val="E8F1FA"/>
                </a:solidFill>
                <a:latin typeface="Calibri"/>
              </a:rPr>
              <a:t>Auditors get a complete, traceable inventory — not a spreadsheet.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i="1" dirty="0">
                <a:solidFill>
                  <a:srgbClr val="555555"/>
                </a:solidFill>
              </a:rPr>
              <a:t>AASTMT 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Data Trust Platform 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CA8"/>
                </a:solidFill>
                <a:latin typeface="Calibri"/>
              </a:rPr>
              <a:t>DIMENSION 3 · THE DOMAIN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From A to B — the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40680" cy="23774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40680" cy="73152"/>
          </a:xfrm>
          <a:prstGeom prst="rect">
            <a:avLst/>
          </a:prstGeom>
          <a:solidFill>
            <a:srgbClr val="B4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2E"/>
                </a:solidFill>
                <a:latin typeface="Calibri"/>
              </a:rPr>
              <a:t>A — Know what we emit</a:t>
            </a:r>
          </a:p>
          <a:p>
            <a:pPr marL="228600" indent="-228600">
              <a:spcBef>
                <a:spcPts val="800"/>
              </a:spcBef>
              <a:spcAft>
                <a:spcPts val="0"/>
              </a:spcAft>
              <a:buChar char="•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Measure every source, campus-wide</a:t>
            </a:r>
          </a:p>
          <a:p>
            <a:pPr marL="228600" indent="-228600">
              <a:spcBef>
                <a:spcPts val="800"/>
              </a:spcBef>
              <a:spcAft>
                <a:spcPts val="0"/>
              </a:spcAft>
              <a:buChar char="•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Verify the numbers — trusted &amp; traceable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5440680" cy="23774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440680" cy="73152"/>
          </a:xfrm>
          <a:prstGeom prst="rect">
            <a:avLst/>
          </a:prstGeom>
          <a:solidFill>
            <a:srgbClr val="0E7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2E"/>
                </a:solidFill>
                <a:latin typeface="Calibri"/>
              </a:rPr>
              <a:t>B — Reduce against targets</a:t>
            </a:r>
          </a:p>
          <a:p>
            <a:pPr marL="228600" indent="-228600">
              <a:spcBef>
                <a:spcPts val="800"/>
              </a:spcBef>
              <a:spcAft>
                <a:spcPts val="0"/>
              </a:spcAft>
              <a:buChar char="•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Set real reduction targets (SBTi)</a:t>
            </a:r>
          </a:p>
          <a:p>
            <a:pPr marL="228600" indent="-228600">
              <a:spcBef>
                <a:spcPts val="800"/>
              </a:spcBef>
              <a:spcAft>
                <a:spcPts val="0"/>
              </a:spcAft>
              <a:buChar char="•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Track progress &amp; forecast the outcome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63440"/>
            <a:ext cx="1691640" cy="548640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Measure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32304" y="4663440"/>
            <a:ext cx="1691640" cy="548640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4663440"/>
            <a:ext cx="1691640" cy="548640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Set targets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4663440"/>
            <a:ext cx="1691640" cy="548640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4663440"/>
            <a:ext cx="169164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Forecast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0" y="4663440"/>
            <a:ext cx="169164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11109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55555"/>
                </a:solidFill>
                <a:latin typeface="Calibri"/>
              </a:rPr>
              <a:t>Forecasting: if we take action X, emissions drop to Y by 2030 — you decide with the end in sight.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i="1" dirty="0">
                <a:solidFill>
                  <a:srgbClr val="555555"/>
                </a:solidFill>
              </a:rPr>
              <a:t>AASTMT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Data Trust Platform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818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Ahmed S. Berawi</cp:lastModifiedBy>
  <cp:revision>8</cp:revision>
  <dcterms:created xsi:type="dcterms:W3CDTF">2013-01-27T09:14:16Z</dcterms:created>
  <dcterms:modified xsi:type="dcterms:W3CDTF">2026-08-29T09:57:07Z</dcterms:modified>
  <cp:category/>
</cp:coreProperties>
</file>